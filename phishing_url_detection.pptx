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94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2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>
            <a:extLst>
              <a:ext uri="{FF2B5EF4-FFF2-40B4-BE49-F238E27FC236}">
                <a16:creationId xmlns:a16="http://schemas.microsoft.com/office/drawing/2014/main" id="{FB0BA72A-D85D-A5E8-BFAC-1C1DD2D32C7B}"/>
              </a:ext>
            </a:extLst>
          </p:cNvPr>
          <p:cNvSpPr/>
          <p:nvPr/>
        </p:nvSpPr>
        <p:spPr>
          <a:xfrm>
            <a:off x="0" y="-38405"/>
            <a:ext cx="12191695" cy="6999042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DF8893F3-3AC4-EC60-B770-3D478D919E53}"/>
              </a:ext>
            </a:extLst>
          </p:cNvPr>
          <p:cNvSpPr/>
          <p:nvPr/>
        </p:nvSpPr>
        <p:spPr>
          <a:xfrm>
            <a:off x="4572000" y="2095805"/>
            <a:ext cx="5715000" cy="5715000"/>
          </a:xfrm>
          <a:prstGeom prst="roundRect">
            <a:avLst>
              <a:gd name="adj" fmla="val 16000"/>
            </a:avLst>
          </a:prstGeom>
          <a:solidFill>
            <a:srgbClr val="164E63">
              <a:alpha val="2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7F18C7FC-1101-A5B1-A3D3-4196043FCC5F}"/>
              </a:ext>
            </a:extLst>
          </p:cNvPr>
          <p:cNvSpPr/>
          <p:nvPr/>
        </p:nvSpPr>
        <p:spPr>
          <a:xfrm>
            <a:off x="3304642" y="5339182"/>
            <a:ext cx="1828800" cy="437998"/>
          </a:xfrm>
          <a:prstGeom prst="roundRect">
            <a:avLst>
              <a:gd name="adj" fmla="val 20876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  <a:effectLst>
            <a:outerShdw blurRad="101600" dist="12700" dir="16200000" algn="bl" rotWithShape="0">
              <a:srgbClr val="06B6D4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6EDFAB66-C7C2-E55F-F57C-51ACE83E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0060" b="-20060"/>
          <a:stretch/>
        </p:blipFill>
        <p:spPr>
          <a:xfrm>
            <a:off x="3543300" y="5462626"/>
            <a:ext cx="152705" cy="190195"/>
          </a:xfrm>
          <a:prstGeom prst="rect">
            <a:avLst/>
          </a:prstGeom>
        </p:spPr>
      </p:pic>
      <p:sp>
        <p:nvSpPr>
          <p:cNvPr id="40" name="Shape 4">
            <a:extLst>
              <a:ext uri="{FF2B5EF4-FFF2-40B4-BE49-F238E27FC236}">
                <a16:creationId xmlns:a16="http://schemas.microsoft.com/office/drawing/2014/main" id="{D19C2A38-785C-8D55-A412-DA304222CFEA}"/>
              </a:ext>
            </a:extLst>
          </p:cNvPr>
          <p:cNvSpPr/>
          <p:nvPr/>
        </p:nvSpPr>
        <p:spPr>
          <a:xfrm>
            <a:off x="5355641" y="5339182"/>
            <a:ext cx="1524305" cy="437998"/>
          </a:xfrm>
          <a:prstGeom prst="roundRect">
            <a:avLst>
              <a:gd name="adj" fmla="val 20876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  <a:effectLst>
            <a:outerShdw blurRad="101600" dist="12700" dir="16200000" algn="bl" rotWithShape="0">
              <a:srgbClr val="06B6D4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B27538B7-642F-B24D-307C-C070FAF6F9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1233" b="-21233"/>
          <a:stretch/>
        </p:blipFill>
        <p:spPr>
          <a:xfrm>
            <a:off x="5594299" y="5462626"/>
            <a:ext cx="133502" cy="190195"/>
          </a:xfrm>
          <a:prstGeom prst="rect">
            <a:avLst/>
          </a:prstGeom>
        </p:spPr>
      </p:pic>
      <p:sp>
        <p:nvSpPr>
          <p:cNvPr id="42" name="Shape 5">
            <a:extLst>
              <a:ext uri="{FF2B5EF4-FFF2-40B4-BE49-F238E27FC236}">
                <a16:creationId xmlns:a16="http://schemas.microsoft.com/office/drawing/2014/main" id="{BE3699BD-E447-6802-66C0-E4F67231212F}"/>
              </a:ext>
            </a:extLst>
          </p:cNvPr>
          <p:cNvSpPr/>
          <p:nvPr/>
        </p:nvSpPr>
        <p:spPr>
          <a:xfrm>
            <a:off x="7104888" y="5339182"/>
            <a:ext cx="1790395" cy="437998"/>
          </a:xfrm>
          <a:prstGeom prst="roundRect">
            <a:avLst>
              <a:gd name="adj" fmla="val 20876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  <a:effectLst>
            <a:outerShdw blurRad="101600" dist="12700" dir="16200000" algn="bl" rotWithShape="0">
              <a:srgbClr val="06B6D4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F29BB951-8B54-CFD7-0B48-333D1CBE16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21233" b="-21233"/>
          <a:stretch/>
        </p:blipFill>
        <p:spPr>
          <a:xfrm>
            <a:off x="7342632" y="5462626"/>
            <a:ext cx="133502" cy="190195"/>
          </a:xfrm>
          <a:prstGeom prst="rect">
            <a:avLst/>
          </a:prstGeom>
        </p:spPr>
      </p:pic>
      <p:sp>
        <p:nvSpPr>
          <p:cNvPr id="44" name="Text 6">
            <a:extLst>
              <a:ext uri="{FF2B5EF4-FFF2-40B4-BE49-F238E27FC236}">
                <a16:creationId xmlns:a16="http://schemas.microsoft.com/office/drawing/2014/main" id="{55E70F82-B5C9-FA2F-3684-A588906BF7D9}"/>
              </a:ext>
            </a:extLst>
          </p:cNvPr>
          <p:cNvSpPr txBox="1"/>
          <p:nvPr/>
        </p:nvSpPr>
        <p:spPr>
          <a:xfrm>
            <a:off x="4827118" y="2385670"/>
            <a:ext cx="2643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ANALYTICS</a:t>
            </a:r>
            <a:endParaRPr lang="en-US" sz="1000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6F4B475-A068-2B97-1E88-F839F066EFC0}"/>
              </a:ext>
            </a:extLst>
          </p:cNvPr>
          <p:cNvSpPr txBox="1"/>
          <p:nvPr/>
        </p:nvSpPr>
        <p:spPr>
          <a:xfrm>
            <a:off x="2433218" y="2710282"/>
            <a:ext cx="7849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URL Detection</a:t>
            </a:r>
            <a:endParaRPr lang="en-US" sz="54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E4A940C5-2DF3-0CA0-35EE-42BC90746785}"/>
              </a:ext>
            </a:extLst>
          </p:cNvPr>
          <p:cNvSpPr txBox="1"/>
          <p:nvPr/>
        </p:nvSpPr>
        <p:spPr>
          <a:xfrm>
            <a:off x="4893869" y="3700577"/>
            <a:ext cx="857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RFE</a:t>
            </a:r>
            <a:endParaRPr lang="en-US" sz="27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44043DCC-8E49-7B0F-6A4D-A3C150AB18DD}"/>
              </a:ext>
            </a:extLst>
          </p:cNvPr>
          <p:cNvSpPr txBox="1"/>
          <p:nvPr/>
        </p:nvSpPr>
        <p:spPr>
          <a:xfrm>
            <a:off x="5640934" y="3700577"/>
            <a:ext cx="3429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|</a:t>
            </a:r>
            <a:endParaRPr lang="en-US" sz="2700" dirty="0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34B7A1B4-F1E6-14BC-EBA7-8228A3FC9D33}"/>
              </a:ext>
            </a:extLst>
          </p:cNvPr>
          <p:cNvSpPr txBox="1"/>
          <p:nvPr/>
        </p:nvSpPr>
        <p:spPr>
          <a:xfrm>
            <a:off x="5875934" y="3700577"/>
            <a:ext cx="1686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XGBoost</a:t>
            </a:r>
            <a:endParaRPr lang="en-US" sz="27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BA911E92-BBF5-4AC8-46DB-C268FD32DC57}"/>
              </a:ext>
            </a:extLst>
          </p:cNvPr>
          <p:cNvSpPr txBox="1"/>
          <p:nvPr/>
        </p:nvSpPr>
        <p:spPr>
          <a:xfrm>
            <a:off x="2549347" y="4453128"/>
            <a:ext cx="72393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High-Precision Machine Learning Framework for Identifying Malicious URLs at Scale</a:t>
            </a:r>
            <a:endParaRPr lang="en-US" sz="15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E4E21231-F84C-67BE-15F7-3DE7DE7A5950}"/>
              </a:ext>
            </a:extLst>
          </p:cNvPr>
          <p:cNvSpPr txBox="1"/>
          <p:nvPr/>
        </p:nvSpPr>
        <p:spPr>
          <a:xfrm>
            <a:off x="3809390" y="5471770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690740C7-5375-C850-BF9F-574B677C1393}"/>
              </a:ext>
            </a:extLst>
          </p:cNvPr>
          <p:cNvSpPr txBox="1"/>
          <p:nvPr/>
        </p:nvSpPr>
        <p:spPr>
          <a:xfrm>
            <a:off x="5842102" y="5471770"/>
            <a:ext cx="900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94F70C81-F198-A6F6-C0A6-FD57E6787920}"/>
              </a:ext>
            </a:extLst>
          </p:cNvPr>
          <p:cNvSpPr txBox="1"/>
          <p:nvPr/>
        </p:nvSpPr>
        <p:spPr>
          <a:xfrm>
            <a:off x="7590434" y="5471770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CEB4C8CA-4104-2CE4-E250-B1500E7118D1}"/>
              </a:ext>
            </a:extLst>
          </p:cNvPr>
          <p:cNvSpPr/>
          <p:nvPr/>
        </p:nvSpPr>
        <p:spPr>
          <a:xfrm>
            <a:off x="5639105" y="1080821"/>
            <a:ext cx="91440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54" name="Image 3" descr="preencoded.png">
            <a:extLst>
              <a:ext uri="{FF2B5EF4-FFF2-40B4-BE49-F238E27FC236}">
                <a16:creationId xmlns:a16="http://schemas.microsoft.com/office/drawing/2014/main" id="{36484631-8D98-D92B-1578-5F71244F28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67705" y="1309421"/>
            <a:ext cx="457200" cy="457200"/>
          </a:xfrm>
          <a:prstGeom prst="rect">
            <a:avLst/>
          </a:prstGeom>
        </p:spPr>
      </p:pic>
      <p:sp>
        <p:nvSpPr>
          <p:cNvPr id="55" name="Shape 16">
            <a:extLst>
              <a:ext uri="{FF2B5EF4-FFF2-40B4-BE49-F238E27FC236}">
                <a16:creationId xmlns:a16="http://schemas.microsoft.com/office/drawing/2014/main" id="{55FCC086-4398-1860-5EDF-EBC523094295}"/>
              </a:ext>
            </a:extLst>
          </p:cNvPr>
          <p:cNvSpPr/>
          <p:nvPr/>
        </p:nvSpPr>
        <p:spPr>
          <a:xfrm>
            <a:off x="6409944" y="1166774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BB9FA38B-C6C7-D2B0-1ABB-17279528396B}"/>
              </a:ext>
            </a:extLst>
          </p:cNvPr>
          <p:cNvSpPr/>
          <p:nvPr/>
        </p:nvSpPr>
        <p:spPr>
          <a:xfrm>
            <a:off x="5724144" y="1852574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2F0458BD-6D6D-DE6F-CE10-E1EF427FFB9B}"/>
              </a:ext>
            </a:extLst>
          </p:cNvPr>
          <p:cNvSpPr txBox="1"/>
          <p:nvPr/>
        </p:nvSpPr>
        <p:spPr>
          <a:xfrm>
            <a:off x="8556955" y="6476695"/>
            <a:ext cx="3419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reference: https://www.genspark.ai/api/files/s/1zIYO25L</a:t>
            </a:r>
            <a:endParaRPr lang="en-US" sz="90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6639F7C7-887E-96BB-8242-856369F25066}"/>
              </a:ext>
            </a:extLst>
          </p:cNvPr>
          <p:cNvSpPr/>
          <p:nvPr/>
        </p:nvSpPr>
        <p:spPr>
          <a:xfrm>
            <a:off x="453999" y="-1661923"/>
            <a:ext cx="5715000" cy="5715000"/>
          </a:xfrm>
          <a:prstGeom prst="roundRect">
            <a:avLst>
              <a:gd name="adj" fmla="val 16000"/>
            </a:avLst>
          </a:prstGeom>
          <a:solidFill>
            <a:srgbClr val="164E63">
              <a:alpha val="20000"/>
            </a:srgbClr>
          </a:solidFill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571500" y="1258214"/>
            <a:ext cx="1104869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571500" y="2267712"/>
            <a:ext cx="38405" cy="3044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571500" y="3941978"/>
            <a:ext cx="466344" cy="457200"/>
          </a:xfrm>
          <a:prstGeom prst="roundRect">
            <a:avLst>
              <a:gd name="adj" fmla="val 33333"/>
            </a:avLst>
          </a:prstGeom>
          <a:solidFill>
            <a:srgbClr val="1E3A8A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571500" y="4856378"/>
            <a:ext cx="400507" cy="457200"/>
          </a:xfrm>
          <a:prstGeom prst="roundRect">
            <a:avLst>
              <a:gd name="adj" fmla="val 43488"/>
            </a:avLst>
          </a:prstGeom>
          <a:solidFill>
            <a:srgbClr val="1E3A8A">
              <a:alpha val="5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571500" y="6163056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 txBox="1"/>
          <p:nvPr/>
        </p:nvSpPr>
        <p:spPr>
          <a:xfrm>
            <a:off x="571500" y="629107"/>
            <a:ext cx="73920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Problem: URL-based Phishing Detection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9945929" y="847649"/>
            <a:ext cx="1776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Analytics Pipeline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2277770"/>
            <a:ext cx="2924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Limitations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2839212"/>
            <a:ext cx="525322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security measures struggle to keep pace with the sophistication and scale of modern phishing attacks, creating a critical gap in web security.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4060850"/>
            <a:ext cx="237744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90549" y="3970325"/>
            <a:ext cx="2129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Severe Class Imbalance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90549" y="4256532"/>
            <a:ext cx="45774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URLs are rare needles in a haystack (e.g., 1 in 10,000), making model training difficult.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85800" y="4975250"/>
            <a:ext cx="171907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23798" y="4884725"/>
            <a:ext cx="18150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Constraints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123798" y="5170932"/>
            <a:ext cx="43863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web traffic requires inference in milliseconds; heavy deep learning models are often too slow.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6324905"/>
            <a:ext cx="2352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INTERNAL USE ONLY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54435" y="6324905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10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327648" y="1857146"/>
            <a:ext cx="5296205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l="-347" r="-347"/>
          <a:stretch/>
        </p:blipFill>
        <p:spPr>
          <a:xfrm>
            <a:off x="10810951" y="2018995"/>
            <a:ext cx="647395" cy="571500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566306" y="2133295"/>
            <a:ext cx="171907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1599" y="2115007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Evasive Patterns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566306" y="2486254"/>
            <a:ext cx="47868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use URL obfuscation, homoglyphs, and rapid domain generation to bypass static blocklists.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327648" y="3286354"/>
            <a:ext cx="5296205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10886846" y="3448202"/>
            <a:ext cx="571500" cy="571500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66306" y="3562502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70802" y="3543300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B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Rules Fail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6566306" y="3914546"/>
            <a:ext cx="47393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systems and blacklists are reactive. They cannot detect zero-day phishing campaigns effectively.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327648" y="4714646"/>
            <a:ext cx="5296205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/>
        </p:blipFill>
        <p:spPr>
          <a:xfrm>
            <a:off x="10886846" y="4876495"/>
            <a:ext cx="571500" cy="571500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66306" y="4990795"/>
            <a:ext cx="237744" cy="19019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18350" y="4972507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 Cost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566306" y="5343754"/>
            <a:ext cx="48152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Blocking legitimate business URLs causes operational disruption. Precision is paramount for user trust.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8405"/>
            <a:ext cx="12191695" cy="6999042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457200" y="476402"/>
            <a:ext cx="256946" cy="228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438498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2"/>
          <p:cNvSpPr/>
          <p:nvPr/>
        </p:nvSpPr>
        <p:spPr>
          <a:xfrm>
            <a:off x="457200" y="4753051"/>
            <a:ext cx="400507" cy="476402"/>
          </a:xfrm>
          <a:prstGeom prst="roundRect">
            <a:avLst>
              <a:gd name="adj" fmla="val 4348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3"/>
          <p:cNvSpPr/>
          <p:nvPr/>
        </p:nvSpPr>
        <p:spPr>
          <a:xfrm>
            <a:off x="4317797" y="4753051"/>
            <a:ext cx="381305" cy="476402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4"/>
          <p:cNvSpPr/>
          <p:nvPr/>
        </p:nvSpPr>
        <p:spPr>
          <a:xfrm>
            <a:off x="8178394" y="4753051"/>
            <a:ext cx="400507" cy="476402"/>
          </a:xfrm>
          <a:prstGeom prst="roundRect">
            <a:avLst>
              <a:gd name="adj" fmla="val 4348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 txBox="1"/>
          <p:nvPr/>
        </p:nvSpPr>
        <p:spPr>
          <a:xfrm>
            <a:off x="828446" y="485546"/>
            <a:ext cx="1681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743407"/>
            <a:ext cx="67062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Solution: RFE + XGBoost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352398"/>
            <a:ext cx="6334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machine learning pipeline optimized for high-precision phishing detection with low latency.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0644" y="4914900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9498" y="4772254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 Feature Set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09498" y="5029200"/>
            <a:ext cx="28821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Distills 24 raw features down to the 20 most predictive signals.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4442155" y="4914900"/>
            <a:ext cx="133502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51806" y="4772254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Latency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851806" y="5029200"/>
            <a:ext cx="30147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real-time inference with minimal computational overhead.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2752" y="4914900"/>
            <a:ext cx="152705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1606" y="4772254"/>
            <a:ext cx="1677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Classification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731606" y="5029200"/>
            <a:ext cx="30723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 captures complex non-linear URL patterns.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09905" y="3543300"/>
            <a:ext cx="1828800" cy="743407"/>
          </a:xfrm>
          <a:prstGeom prst="roundRect">
            <a:avLst>
              <a:gd name="adj" fmla="val 126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16"/>
          <p:cNvSpPr txBox="1"/>
          <p:nvPr/>
        </p:nvSpPr>
        <p:spPr>
          <a:xfrm>
            <a:off x="1164946" y="3724351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URL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181405" y="3981298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Raw String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1462126" y="2553005"/>
            <a:ext cx="123444" cy="19019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2667305" y="3390595"/>
            <a:ext cx="2133295" cy="1047902"/>
          </a:xfrm>
          <a:prstGeom prst="roundRect">
            <a:avLst>
              <a:gd name="adj" fmla="val 63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19"/>
          <p:cNvSpPr txBox="1"/>
          <p:nvPr/>
        </p:nvSpPr>
        <p:spPr>
          <a:xfrm>
            <a:off x="3051353" y="3571646"/>
            <a:ext cx="1485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3207715" y="3819449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Lexical Features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314700" y="4009644"/>
            <a:ext cx="838505" cy="267005"/>
          </a:xfrm>
          <a:prstGeom prst="roundRect">
            <a:avLst>
              <a:gd name="adj" fmla="val 48924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Text 22"/>
          <p:cNvSpPr txBox="1"/>
          <p:nvPr/>
        </p:nvSpPr>
        <p:spPr>
          <a:xfrm>
            <a:off x="3391510" y="4048049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URL-Only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3672230" y="2400300"/>
            <a:ext cx="123444" cy="19019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029200" y="3390595"/>
            <a:ext cx="2133295" cy="1047902"/>
          </a:xfrm>
          <a:prstGeom prst="roundRect">
            <a:avLst>
              <a:gd name="adj" fmla="val 63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24"/>
          <p:cNvSpPr txBox="1"/>
          <p:nvPr/>
        </p:nvSpPr>
        <p:spPr>
          <a:xfrm>
            <a:off x="5446166" y="3571646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714086" y="3819449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RFE Algorithm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5364785" y="4058107"/>
            <a:ext cx="1581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6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Selects top k=20</a:t>
            </a:r>
            <a:endParaRPr lang="en-US" sz="12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6034126" y="2400300"/>
            <a:ext cx="123444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391095" y="3390595"/>
            <a:ext cx="2133295" cy="1047902"/>
          </a:xfrm>
          <a:prstGeom prst="roundRect">
            <a:avLst>
              <a:gd name="adj" fmla="val 63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28"/>
          <p:cNvSpPr txBox="1"/>
          <p:nvPr/>
        </p:nvSpPr>
        <p:spPr>
          <a:xfrm>
            <a:off x="7883957" y="3571646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Model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7926934" y="3819449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Classifier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7818120" y="4058107"/>
            <a:ext cx="1400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200 Estimators</a:t>
            </a:r>
            <a:endParaRPr lang="en-US" sz="12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8396021" y="2400300"/>
            <a:ext cx="123444" cy="190195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9753905" y="3486607"/>
            <a:ext cx="1828800" cy="857707"/>
          </a:xfrm>
          <a:prstGeom prst="roundRect">
            <a:avLst>
              <a:gd name="adj" fmla="val 947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32"/>
          <p:cNvSpPr txBox="1"/>
          <p:nvPr/>
        </p:nvSpPr>
        <p:spPr>
          <a:xfrm>
            <a:off x="10344607" y="3666744"/>
            <a:ext cx="762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10119665" y="3924605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Threshold ≥ 0.55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10554005" y="41056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5" name="Shape 35"/>
          <p:cNvSpPr/>
          <p:nvPr/>
        </p:nvSpPr>
        <p:spPr>
          <a:xfrm>
            <a:off x="10705795" y="41056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6" name="Shape 36"/>
          <p:cNvSpPr/>
          <p:nvPr/>
        </p:nvSpPr>
        <p:spPr>
          <a:xfrm>
            <a:off x="1143000" y="25530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10005" y="2819095"/>
            <a:ext cx="228600" cy="228600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3353105" y="2400300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11827"/>
          </a:solidFill>
          <a:ln w="25400">
            <a:solidFill>
              <a:srgbClr val="E5E7EB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3590849" y="2667305"/>
            <a:ext cx="286207" cy="228600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5715000" y="2400300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11827"/>
          </a:solidFill>
          <a:ln w="25400">
            <a:solidFill>
              <a:srgbClr val="8B5C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82005" y="2667305"/>
            <a:ext cx="228600" cy="228600"/>
          </a:xfrm>
          <a:prstGeom prst="rect">
            <a:avLst/>
          </a:prstGeom>
        </p:spPr>
      </p:pic>
      <p:sp>
        <p:nvSpPr>
          <p:cNvPr id="52" name="Shape 39"/>
          <p:cNvSpPr/>
          <p:nvPr/>
        </p:nvSpPr>
        <p:spPr>
          <a:xfrm>
            <a:off x="8076895" y="2400300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8315554" y="2667305"/>
            <a:ext cx="286207" cy="228600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10287000" y="2495398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11827"/>
          </a:solidFill>
          <a:ln w="25400">
            <a:solidFill>
              <a:srgbClr val="EF4444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54005" y="276240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00507"/>
            <a:ext cx="152705" cy="152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13771" y="933602"/>
            <a:ext cx="9144" cy="381305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 txBox="1"/>
          <p:nvPr/>
        </p:nvSpPr>
        <p:spPr>
          <a:xfrm>
            <a:off x="724205" y="400507"/>
            <a:ext cx="23481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 DATA PREPROCESSING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29107"/>
            <a:ext cx="38962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Feature Extraction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33856"/>
            <a:ext cx="3663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Lexical Features (URL-Only, No Content)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019081" y="886054"/>
            <a:ext cx="5669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307678" y="1218895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FEATURES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066544"/>
            <a:ext cx="3610051" cy="2266798"/>
          </a:xfrm>
          <a:prstGeom prst="roundRect">
            <a:avLst>
              <a:gd name="adj" fmla="val 13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1"/>
          <p:cNvSpPr/>
          <p:nvPr/>
        </p:nvSpPr>
        <p:spPr>
          <a:xfrm>
            <a:off x="3482950" y="22667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3563417" y="2371954"/>
            <a:ext cx="219456" cy="1719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94944" y="3276295"/>
            <a:ext cx="657454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3"/>
          <p:cNvSpPr/>
          <p:nvPr/>
        </p:nvSpPr>
        <p:spPr>
          <a:xfrm>
            <a:off x="1422806" y="3276295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4"/>
          <p:cNvSpPr/>
          <p:nvPr/>
        </p:nvSpPr>
        <p:spPr>
          <a:xfrm>
            <a:off x="2219249" y="3276295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5"/>
          <p:cNvSpPr/>
          <p:nvPr/>
        </p:nvSpPr>
        <p:spPr>
          <a:xfrm>
            <a:off x="3015691" y="3276295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6"/>
          <p:cNvSpPr/>
          <p:nvPr/>
        </p:nvSpPr>
        <p:spPr>
          <a:xfrm>
            <a:off x="4292194" y="2066544"/>
            <a:ext cx="3610051" cy="2266798"/>
          </a:xfrm>
          <a:prstGeom prst="roundRect">
            <a:avLst>
              <a:gd name="adj" fmla="val 13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7"/>
          <p:cNvSpPr/>
          <p:nvPr/>
        </p:nvSpPr>
        <p:spPr>
          <a:xfrm>
            <a:off x="7317943" y="22667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7432243" y="2371954"/>
            <a:ext cx="152705" cy="171907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30852" y="3276295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19"/>
          <p:cNvSpPr/>
          <p:nvPr/>
        </p:nvSpPr>
        <p:spPr>
          <a:xfrm>
            <a:off x="5327294" y="3276295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0"/>
          <p:cNvSpPr/>
          <p:nvPr/>
        </p:nvSpPr>
        <p:spPr>
          <a:xfrm>
            <a:off x="6260897" y="3276295"/>
            <a:ext cx="933602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1"/>
          <p:cNvSpPr/>
          <p:nvPr/>
        </p:nvSpPr>
        <p:spPr>
          <a:xfrm>
            <a:off x="4530852" y="3581705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2"/>
          <p:cNvSpPr/>
          <p:nvPr/>
        </p:nvSpPr>
        <p:spPr>
          <a:xfrm>
            <a:off x="5327294" y="3581705"/>
            <a:ext cx="657454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3"/>
          <p:cNvSpPr/>
          <p:nvPr/>
        </p:nvSpPr>
        <p:spPr>
          <a:xfrm>
            <a:off x="6055157" y="3581705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4"/>
          <p:cNvSpPr/>
          <p:nvPr/>
        </p:nvSpPr>
        <p:spPr>
          <a:xfrm>
            <a:off x="6851599" y="3581705"/>
            <a:ext cx="523951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5"/>
          <p:cNvSpPr/>
          <p:nvPr/>
        </p:nvSpPr>
        <p:spPr>
          <a:xfrm>
            <a:off x="4530852" y="3886200"/>
            <a:ext cx="523951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6"/>
          <p:cNvSpPr/>
          <p:nvPr/>
        </p:nvSpPr>
        <p:spPr>
          <a:xfrm>
            <a:off x="8128102" y="2066544"/>
            <a:ext cx="3610051" cy="2266798"/>
          </a:xfrm>
          <a:prstGeom prst="roundRect">
            <a:avLst>
              <a:gd name="adj" fmla="val 13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27"/>
          <p:cNvSpPr/>
          <p:nvPr/>
        </p:nvSpPr>
        <p:spPr>
          <a:xfrm>
            <a:off x="11153851" y="22667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11268151" y="2371954"/>
            <a:ext cx="152705" cy="171907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8365846" y="3124505"/>
            <a:ext cx="933602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29"/>
          <p:cNvSpPr/>
          <p:nvPr/>
        </p:nvSpPr>
        <p:spPr>
          <a:xfrm>
            <a:off x="9368028" y="3124505"/>
            <a:ext cx="933602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0"/>
          <p:cNvSpPr/>
          <p:nvPr/>
        </p:nvSpPr>
        <p:spPr>
          <a:xfrm>
            <a:off x="8365846" y="3429000"/>
            <a:ext cx="1209751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1"/>
          <p:cNvSpPr/>
          <p:nvPr/>
        </p:nvSpPr>
        <p:spPr>
          <a:xfrm>
            <a:off x="457200" y="4562856"/>
            <a:ext cx="3610051" cy="1962302"/>
          </a:xfrm>
          <a:prstGeom prst="roundRect">
            <a:avLst>
              <a:gd name="adj" fmla="val 1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2"/>
          <p:cNvSpPr/>
          <p:nvPr/>
        </p:nvSpPr>
        <p:spPr>
          <a:xfrm>
            <a:off x="3482950" y="47621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A855F7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3578047" y="4867351"/>
            <a:ext cx="190195" cy="171907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94944" y="5619902"/>
            <a:ext cx="933602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4"/>
          <p:cNvSpPr/>
          <p:nvPr/>
        </p:nvSpPr>
        <p:spPr>
          <a:xfrm>
            <a:off x="1697126" y="5619902"/>
            <a:ext cx="10671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35"/>
          <p:cNvSpPr/>
          <p:nvPr/>
        </p:nvSpPr>
        <p:spPr>
          <a:xfrm>
            <a:off x="694944" y="5924398"/>
            <a:ext cx="10671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36"/>
          <p:cNvSpPr/>
          <p:nvPr/>
        </p:nvSpPr>
        <p:spPr>
          <a:xfrm>
            <a:off x="4292194" y="4562856"/>
            <a:ext cx="3610051" cy="1962302"/>
          </a:xfrm>
          <a:prstGeom prst="roundRect">
            <a:avLst>
              <a:gd name="adj" fmla="val 1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37"/>
          <p:cNvSpPr/>
          <p:nvPr/>
        </p:nvSpPr>
        <p:spPr>
          <a:xfrm>
            <a:off x="7317943" y="47621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3099" y="4867351"/>
            <a:ext cx="171907" cy="171907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4530852" y="5772607"/>
            <a:ext cx="1209751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39"/>
          <p:cNvSpPr/>
          <p:nvPr/>
        </p:nvSpPr>
        <p:spPr>
          <a:xfrm>
            <a:off x="5807354" y="5772607"/>
            <a:ext cx="17529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0"/>
          <p:cNvSpPr/>
          <p:nvPr/>
        </p:nvSpPr>
        <p:spPr>
          <a:xfrm>
            <a:off x="4530852" y="6077102"/>
            <a:ext cx="1819656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1"/>
          <p:cNvSpPr/>
          <p:nvPr/>
        </p:nvSpPr>
        <p:spPr>
          <a:xfrm>
            <a:off x="8128102" y="4562856"/>
            <a:ext cx="3610051" cy="1962302"/>
          </a:xfrm>
          <a:prstGeom prst="roundRect">
            <a:avLst>
              <a:gd name="adj" fmla="val 1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2"/>
          <p:cNvSpPr/>
          <p:nvPr/>
        </p:nvSpPr>
        <p:spPr>
          <a:xfrm>
            <a:off x="11153851" y="47621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4444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11268151" y="4867351"/>
            <a:ext cx="152705" cy="171907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8365846" y="5619902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44"/>
          <p:cNvSpPr/>
          <p:nvPr/>
        </p:nvSpPr>
        <p:spPr>
          <a:xfrm>
            <a:off x="9230868" y="5619902"/>
            <a:ext cx="933602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45"/>
          <p:cNvSpPr/>
          <p:nvPr/>
        </p:nvSpPr>
        <p:spPr>
          <a:xfrm>
            <a:off x="10233050" y="5619902"/>
            <a:ext cx="1000354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 46"/>
          <p:cNvSpPr txBox="1"/>
          <p:nvPr/>
        </p:nvSpPr>
        <p:spPr>
          <a:xfrm>
            <a:off x="676656" y="2352751"/>
            <a:ext cx="1396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Length Metrics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676656" y="2762402"/>
            <a:ext cx="32671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length analysis often correlates with obfuscation attempts.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780898" y="33147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url_len</a:t>
            </a:r>
            <a:endParaRPr 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1508760" y="3314700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host_len</a:t>
            </a:r>
            <a:endParaRPr lang="en-US" sz="900" dirty="0"/>
          </a:p>
        </p:txBody>
      </p:sp>
      <p:sp>
        <p:nvSpPr>
          <p:cNvPr id="59" name="Text 50"/>
          <p:cNvSpPr txBox="1"/>
          <p:nvPr/>
        </p:nvSpPr>
        <p:spPr>
          <a:xfrm>
            <a:off x="2305202" y="3314700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path_len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3101645" y="3314700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query_len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4511650" y="2352751"/>
            <a:ext cx="1614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Counts</a:t>
            </a:r>
            <a:endParaRPr lang="en-US" sz="1300" dirty="0"/>
          </a:p>
        </p:txBody>
      </p:sp>
      <p:sp>
        <p:nvSpPr>
          <p:cNvPr id="62" name="Text 53"/>
          <p:cNvSpPr txBox="1"/>
          <p:nvPr/>
        </p:nvSpPr>
        <p:spPr>
          <a:xfrm>
            <a:off x="4511650" y="2762402"/>
            <a:ext cx="3105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density of special chars can indicate redirection or payloads.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4616806" y="3314700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dots (.)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5412334" y="3314700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dashes (-)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6345936" y="3314700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slashes (/)</a:t>
            </a:r>
            <a:endParaRPr lang="en-US" sz="900" dirty="0"/>
          </a:p>
        </p:txBody>
      </p:sp>
      <p:sp>
        <p:nvSpPr>
          <p:cNvPr id="66" name="Text 57"/>
          <p:cNvSpPr txBox="1"/>
          <p:nvPr/>
        </p:nvSpPr>
        <p:spPr>
          <a:xfrm>
            <a:off x="4616806" y="361919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symbol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5412334" y="361919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query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6140196" y="361919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equals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6936638" y="3619195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amp</a:t>
            </a:r>
            <a:endParaRPr lang="en-US" sz="900" dirty="0"/>
          </a:p>
        </p:txBody>
      </p:sp>
      <p:sp>
        <p:nvSpPr>
          <p:cNvPr id="70" name="Text 61"/>
          <p:cNvSpPr txBox="1"/>
          <p:nvPr/>
        </p:nvSpPr>
        <p:spPr>
          <a:xfrm>
            <a:off x="4616806" y="3924605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hex</a:t>
            </a:r>
            <a:endParaRPr lang="en-US" sz="900" dirty="0"/>
          </a:p>
        </p:txBody>
      </p:sp>
      <p:sp>
        <p:nvSpPr>
          <p:cNvPr id="71" name="Text 62"/>
          <p:cNvSpPr txBox="1"/>
          <p:nvPr/>
        </p:nvSpPr>
        <p:spPr>
          <a:xfrm>
            <a:off x="8346643" y="2352751"/>
            <a:ext cx="11960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72" name="Text 63"/>
          <p:cNvSpPr txBox="1"/>
          <p:nvPr/>
        </p:nvSpPr>
        <p:spPr>
          <a:xfrm>
            <a:off x="8346643" y="2762402"/>
            <a:ext cx="3038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 of digits to letters and subdomain depth analysis.</a:t>
            </a:r>
            <a:endParaRPr lang="en-US" sz="900" dirty="0"/>
          </a:p>
        </p:txBody>
      </p:sp>
      <p:sp>
        <p:nvSpPr>
          <p:cNvPr id="73" name="Text 64"/>
          <p:cNvSpPr txBox="1"/>
          <p:nvPr/>
        </p:nvSpPr>
        <p:spPr>
          <a:xfrm>
            <a:off x="8451799" y="3161995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digit_count</a:t>
            </a:r>
            <a:endParaRPr lang="en-US" sz="900" dirty="0"/>
          </a:p>
        </p:txBody>
      </p:sp>
      <p:sp>
        <p:nvSpPr>
          <p:cNvPr id="74" name="Text 65"/>
          <p:cNvSpPr txBox="1"/>
          <p:nvPr/>
        </p:nvSpPr>
        <p:spPr>
          <a:xfrm>
            <a:off x="9453982" y="3161995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alpha_count</a:t>
            </a:r>
            <a:endParaRPr lang="en-US" sz="900" dirty="0"/>
          </a:p>
        </p:txBody>
      </p:sp>
      <p:sp>
        <p:nvSpPr>
          <p:cNvPr id="75" name="Text 66"/>
          <p:cNvSpPr txBox="1"/>
          <p:nvPr/>
        </p:nvSpPr>
        <p:spPr>
          <a:xfrm>
            <a:off x="8451799" y="3467405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subdomain_count</a:t>
            </a:r>
            <a:endParaRPr lang="en-US" sz="900" dirty="0"/>
          </a:p>
        </p:txBody>
      </p:sp>
      <p:sp>
        <p:nvSpPr>
          <p:cNvPr id="76" name="Text 67"/>
          <p:cNvSpPr txBox="1"/>
          <p:nvPr/>
        </p:nvSpPr>
        <p:spPr>
          <a:xfrm>
            <a:off x="676656" y="4848149"/>
            <a:ext cx="1405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Analysis</a:t>
            </a:r>
            <a:endParaRPr lang="en-US" sz="1300" dirty="0"/>
          </a:p>
        </p:txBody>
      </p:sp>
      <p:sp>
        <p:nvSpPr>
          <p:cNvPr id="77" name="Text 68"/>
          <p:cNvSpPr txBox="1"/>
          <p:nvPr/>
        </p:nvSpPr>
        <p:spPr>
          <a:xfrm>
            <a:off x="676656" y="5257800"/>
            <a:ext cx="3219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down path/query into meaningful lexical chunks.</a:t>
            </a:r>
            <a:endParaRPr lang="en-US" sz="900" dirty="0"/>
          </a:p>
        </p:txBody>
      </p:sp>
      <p:sp>
        <p:nvSpPr>
          <p:cNvPr id="78" name="Text 69"/>
          <p:cNvSpPr txBox="1"/>
          <p:nvPr/>
        </p:nvSpPr>
        <p:spPr>
          <a:xfrm>
            <a:off x="780898" y="5658307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token_count</a:t>
            </a:r>
            <a:endParaRPr lang="en-US" sz="900" dirty="0"/>
          </a:p>
        </p:txBody>
      </p:sp>
      <p:sp>
        <p:nvSpPr>
          <p:cNvPr id="79" name="Text 70"/>
          <p:cNvSpPr txBox="1"/>
          <p:nvPr/>
        </p:nvSpPr>
        <p:spPr>
          <a:xfrm>
            <a:off x="1783080" y="5658307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avg_token_len</a:t>
            </a:r>
            <a:endParaRPr lang="en-US" sz="900" dirty="0"/>
          </a:p>
        </p:txBody>
      </p:sp>
      <p:sp>
        <p:nvSpPr>
          <p:cNvPr id="80" name="Text 71"/>
          <p:cNvSpPr txBox="1"/>
          <p:nvPr/>
        </p:nvSpPr>
        <p:spPr>
          <a:xfrm>
            <a:off x="780898" y="5962802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max_token_len</a:t>
            </a:r>
            <a:endParaRPr lang="en-US" sz="900" dirty="0"/>
          </a:p>
        </p:txBody>
      </p:sp>
      <p:sp>
        <p:nvSpPr>
          <p:cNvPr id="81" name="Text 72"/>
          <p:cNvSpPr txBox="1"/>
          <p:nvPr/>
        </p:nvSpPr>
        <p:spPr>
          <a:xfrm>
            <a:off x="4511650" y="4848149"/>
            <a:ext cx="18242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Entropy &amp; Keywords</a:t>
            </a:r>
            <a:endParaRPr lang="en-US" sz="1300" dirty="0"/>
          </a:p>
        </p:txBody>
      </p:sp>
      <p:sp>
        <p:nvSpPr>
          <p:cNvPr id="82" name="Text 73"/>
          <p:cNvSpPr txBox="1"/>
          <p:nvPr/>
        </p:nvSpPr>
        <p:spPr>
          <a:xfrm>
            <a:off x="4511650" y="5257800"/>
            <a:ext cx="28291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Randomness detection (DGA) and suspicious word matching.</a:t>
            </a:r>
            <a:endParaRPr lang="en-US" sz="900" dirty="0"/>
          </a:p>
        </p:txBody>
      </p:sp>
      <p:sp>
        <p:nvSpPr>
          <p:cNvPr id="83" name="Text 74"/>
          <p:cNvSpPr txBox="1"/>
          <p:nvPr/>
        </p:nvSpPr>
        <p:spPr>
          <a:xfrm>
            <a:off x="4616806" y="5810098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shannon_entropy</a:t>
            </a:r>
            <a:endParaRPr lang="en-US" sz="900" dirty="0"/>
          </a:p>
        </p:txBody>
      </p:sp>
      <p:sp>
        <p:nvSpPr>
          <p:cNvPr id="84" name="Text 75"/>
          <p:cNvSpPr txBox="1"/>
          <p:nvPr/>
        </p:nvSpPr>
        <p:spPr>
          <a:xfrm>
            <a:off x="5893308" y="5810098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suspicious_keyword_hits</a:t>
            </a:r>
            <a:endParaRPr lang="en-US" sz="900" dirty="0"/>
          </a:p>
        </p:txBody>
      </p:sp>
      <p:sp>
        <p:nvSpPr>
          <p:cNvPr id="85" name="Text 76"/>
          <p:cNvSpPr txBox="1"/>
          <p:nvPr/>
        </p:nvSpPr>
        <p:spPr>
          <a:xfrm>
            <a:off x="4616806" y="6115507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(login/verify/secure...)</a:t>
            </a:r>
            <a:endParaRPr lang="en-US" sz="900" dirty="0"/>
          </a:p>
        </p:txBody>
      </p:sp>
      <p:sp>
        <p:nvSpPr>
          <p:cNvPr id="86" name="Text 77"/>
          <p:cNvSpPr txBox="1"/>
          <p:nvPr/>
        </p:nvSpPr>
        <p:spPr>
          <a:xfrm>
            <a:off x="8346643" y="4848149"/>
            <a:ext cx="1338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Flags</a:t>
            </a:r>
            <a:endParaRPr lang="en-US" sz="1300" dirty="0"/>
          </a:p>
        </p:txBody>
      </p:sp>
      <p:sp>
        <p:nvSpPr>
          <p:cNvPr id="87" name="Text 78"/>
          <p:cNvSpPr txBox="1"/>
          <p:nvPr/>
        </p:nvSpPr>
        <p:spPr>
          <a:xfrm>
            <a:off x="8346643" y="5257800"/>
            <a:ext cx="2791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indicators of common phishing techniques.</a:t>
            </a:r>
            <a:endParaRPr lang="en-US" sz="900" dirty="0"/>
          </a:p>
        </p:txBody>
      </p:sp>
      <p:sp>
        <p:nvSpPr>
          <p:cNvPr id="88" name="Text 79"/>
          <p:cNvSpPr txBox="1"/>
          <p:nvPr/>
        </p:nvSpPr>
        <p:spPr>
          <a:xfrm>
            <a:off x="8451799" y="5658307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has_https</a:t>
            </a:r>
            <a:endParaRPr lang="en-US" sz="900" dirty="0"/>
          </a:p>
        </p:txBody>
      </p:sp>
      <p:sp>
        <p:nvSpPr>
          <p:cNvPr id="89" name="Text 80"/>
          <p:cNvSpPr txBox="1"/>
          <p:nvPr/>
        </p:nvSpPr>
        <p:spPr>
          <a:xfrm>
            <a:off x="9316822" y="5658307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has_ip_host</a:t>
            </a:r>
            <a:endParaRPr lang="en-US" sz="900" dirty="0"/>
          </a:p>
        </p:txBody>
      </p:sp>
      <p:sp>
        <p:nvSpPr>
          <p:cNvPr id="90" name="Text 81"/>
          <p:cNvSpPr txBox="1"/>
          <p:nvPr/>
        </p:nvSpPr>
        <p:spPr>
          <a:xfrm>
            <a:off x="10319004" y="5658307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port_present</a:t>
            </a:r>
            <a:endParaRPr lang="en-US" sz="900" dirty="0"/>
          </a:p>
        </p:txBody>
      </p:sp>
      <p:sp>
        <p:nvSpPr>
          <p:cNvPr id="91" name="Shape 82"/>
          <p:cNvSpPr/>
          <p:nvPr/>
        </p:nvSpPr>
        <p:spPr>
          <a:xfrm>
            <a:off x="0" y="6981444"/>
            <a:ext cx="12191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2" name="Text 83"/>
          <p:cNvSpPr txBox="1"/>
          <p:nvPr/>
        </p:nvSpPr>
        <p:spPr>
          <a:xfrm>
            <a:off x="457200" y="7153351"/>
            <a:ext cx="2762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EXTRACTOR: FEATURES.PY // DETERMINISTIC</a:t>
            </a:r>
            <a:endParaRPr lang="en-US" sz="900" dirty="0"/>
          </a:p>
        </p:txBody>
      </p:sp>
      <p:sp>
        <p:nvSpPr>
          <p:cNvPr id="93" name="Text 84"/>
          <p:cNvSpPr txBox="1"/>
          <p:nvPr/>
        </p:nvSpPr>
        <p:spPr>
          <a:xfrm>
            <a:off x="11365078" y="7144207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Shape 1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476402"/>
            <a:ext cx="28154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FEATURE SELECTION METHODOLOGY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705002"/>
            <a:ext cx="5906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Recursive Feature Elimination (RFE)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11024006" y="733349"/>
            <a:ext cx="724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8048549"/>
            <a:ext cx="2286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METHODOLOGY // FEATURE SELECTION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54435" y="6581318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 / 10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9186" y="1831085"/>
            <a:ext cx="19202" cy="500999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1281989" y="1430542"/>
            <a:ext cx="6229807" cy="1181405"/>
          </a:xfrm>
          <a:prstGeom prst="roundRect">
            <a:avLst>
              <a:gd name="adj" fmla="val 49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2"/>
          <p:cNvSpPr txBox="1"/>
          <p:nvPr/>
        </p:nvSpPr>
        <p:spPr>
          <a:xfrm>
            <a:off x="1463955" y="1630831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12510" y="1740262"/>
            <a:ext cx="1410005" cy="247802"/>
          </a:xfrm>
          <a:prstGeom prst="roundRect">
            <a:avLst>
              <a:gd name="adj" fmla="val 5677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4"/>
          <p:cNvSpPr txBox="1"/>
          <p:nvPr/>
        </p:nvSpPr>
        <p:spPr>
          <a:xfrm>
            <a:off x="5998464" y="1826515"/>
            <a:ext cx="13240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INPUT: 24 FEATURES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459383" y="2047219"/>
            <a:ext cx="58539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complete set of 24 lexical features extracted from the URL structure (lengths, counts, entropy).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295705" y="2855177"/>
            <a:ext cx="6229807" cy="1181405"/>
          </a:xfrm>
          <a:prstGeom prst="roundRect">
            <a:avLst>
              <a:gd name="adj" fmla="val 49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1" name="Text 17"/>
          <p:cNvSpPr txBox="1"/>
          <p:nvPr/>
        </p:nvSpPr>
        <p:spPr>
          <a:xfrm>
            <a:off x="1456285" y="2962148"/>
            <a:ext cx="22530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&amp; Ranking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127748" y="3557930"/>
            <a:ext cx="190195" cy="1527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58591" y="3347185"/>
            <a:ext cx="56061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the XGBoost estimator on current feature set. Assign importance weights to every feature based on split gain.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295705" y="4320197"/>
            <a:ext cx="6229807" cy="1181405"/>
          </a:xfrm>
          <a:prstGeom prst="roundRect">
            <a:avLst>
              <a:gd name="adj" fmla="val 49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Text 20"/>
          <p:cNvSpPr txBox="1"/>
          <p:nvPr/>
        </p:nvSpPr>
        <p:spPr>
          <a:xfrm>
            <a:off x="1458591" y="4521344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Pruning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72630" y="4476642"/>
            <a:ext cx="448056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27" name="Text 22"/>
          <p:cNvSpPr txBox="1"/>
          <p:nvPr/>
        </p:nvSpPr>
        <p:spPr>
          <a:xfrm>
            <a:off x="6969520" y="4555375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LOOP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458591" y="4880889"/>
            <a:ext cx="58347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remove the weakest features (lowest importance). Repeat training cycle on the reduced subset.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317879" y="5713856"/>
            <a:ext cx="6229807" cy="1070305"/>
          </a:xfrm>
          <a:prstGeom prst="roundRect">
            <a:avLst>
              <a:gd name="adj" fmla="val 49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0" name="Text 25"/>
          <p:cNvSpPr txBox="1"/>
          <p:nvPr/>
        </p:nvSpPr>
        <p:spPr>
          <a:xfrm>
            <a:off x="1495044" y="5933821"/>
            <a:ext cx="1614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Selection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331268" y="6033948"/>
            <a:ext cx="1000354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27"/>
          <p:cNvSpPr txBox="1"/>
          <p:nvPr/>
        </p:nvSpPr>
        <p:spPr>
          <a:xfrm>
            <a:off x="6497955" y="6097738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OUTPUT: k=20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476298" y="6296604"/>
            <a:ext cx="56436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halts when exactly 20 features remain. This subset maximizes predictive power while minimizing noise.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975397" y="1876349"/>
            <a:ext cx="38405" cy="47247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42402" y="2143354"/>
            <a:ext cx="190195" cy="19019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509406" y="2104949"/>
            <a:ext cx="1077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RFE?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8242402" y="2600554"/>
            <a:ext cx="286207" cy="381305"/>
          </a:xfrm>
          <a:prstGeom prst="roundRect">
            <a:avLst>
              <a:gd name="adj" fmla="val 42599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6410" y="2714854"/>
            <a:ext cx="152705" cy="15270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675827" y="2609698"/>
            <a:ext cx="1748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Dimensionality Reduction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8675827" y="2848356"/>
            <a:ext cx="2667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24 features to 20, removing redundant correlations and noise.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8242402" y="3429000"/>
            <a:ext cx="267005" cy="381305"/>
          </a:xfrm>
          <a:prstGeom prst="roundRect">
            <a:avLst>
              <a:gd name="adj" fmla="val 48924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97266" y="3543300"/>
            <a:ext cx="152705" cy="15270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657539" y="3438144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Latency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8657539" y="3676802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input signals mean faster inference times for real-time traffic analysis.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8242402" y="4257446"/>
            <a:ext cx="247802" cy="381305"/>
          </a:xfrm>
          <a:prstGeom prst="roundRect">
            <a:avLst>
              <a:gd name="adj" fmla="val 5677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88122" y="4371746"/>
            <a:ext cx="152705" cy="15270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8638337" y="4267505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Robustness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8638337" y="4505249"/>
            <a:ext cx="2714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the XGBoost ensemble on the strongest signals, reducing overfitting risks.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457200" y="1913448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111827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Text 47"/>
          <p:cNvSpPr txBox="1"/>
          <p:nvPr/>
        </p:nvSpPr>
        <p:spPr>
          <a:xfrm>
            <a:off x="642366" y="2066544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7" name="Shape 48"/>
          <p:cNvSpPr/>
          <p:nvPr/>
        </p:nvSpPr>
        <p:spPr>
          <a:xfrm>
            <a:off x="457200" y="3222233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111827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Text 49"/>
          <p:cNvSpPr txBox="1"/>
          <p:nvPr/>
        </p:nvSpPr>
        <p:spPr>
          <a:xfrm>
            <a:off x="624535" y="3418404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59" name="Shape 50"/>
          <p:cNvSpPr/>
          <p:nvPr/>
        </p:nvSpPr>
        <p:spPr>
          <a:xfrm>
            <a:off x="464949" y="4531018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111827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60" name="Text 51"/>
          <p:cNvSpPr txBox="1"/>
          <p:nvPr/>
        </p:nvSpPr>
        <p:spPr>
          <a:xfrm>
            <a:off x="656082" y="4711654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62" name="Text 53"/>
          <p:cNvSpPr txBox="1"/>
          <p:nvPr/>
        </p:nvSpPr>
        <p:spPr>
          <a:xfrm>
            <a:off x="619049" y="6120060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800" dirty="0"/>
          </a:p>
        </p:txBody>
      </p:sp>
      <p:sp>
        <p:nvSpPr>
          <p:cNvPr id="63" name="Shape 46">
            <a:extLst>
              <a:ext uri="{FF2B5EF4-FFF2-40B4-BE49-F238E27FC236}">
                <a16:creationId xmlns:a16="http://schemas.microsoft.com/office/drawing/2014/main" id="{45626D05-AF03-E646-71F7-CE4FA9463405}"/>
              </a:ext>
            </a:extLst>
          </p:cNvPr>
          <p:cNvSpPr/>
          <p:nvPr/>
        </p:nvSpPr>
        <p:spPr>
          <a:xfrm>
            <a:off x="485289" y="5713856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111827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תיבת טקסט 63">
            <a:extLst>
              <a:ext uri="{FF2B5EF4-FFF2-40B4-BE49-F238E27FC236}">
                <a16:creationId xmlns:a16="http://schemas.microsoft.com/office/drawing/2014/main" id="{728D5917-2453-1793-C372-A832E6F7E352}"/>
              </a:ext>
            </a:extLst>
          </p:cNvPr>
          <p:cNvSpPr txBox="1"/>
          <p:nvPr/>
        </p:nvSpPr>
        <p:spPr>
          <a:xfrm>
            <a:off x="552299" y="5867639"/>
            <a:ext cx="56944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dirty="0"/>
          </a:p>
          <a:p>
            <a:endParaRPr lang="he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>
            <a:extLst>
              <a:ext uri="{FF2B5EF4-FFF2-40B4-BE49-F238E27FC236}">
                <a16:creationId xmlns:a16="http://schemas.microsoft.com/office/drawing/2014/main" id="{931990F5-A12D-2A84-D2F6-F9F0D7A29A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4" name="Shape 2"/>
          <p:cNvSpPr/>
          <p:nvPr/>
        </p:nvSpPr>
        <p:spPr>
          <a:xfrm>
            <a:off x="571500" y="2392985"/>
            <a:ext cx="4419295" cy="1104595"/>
          </a:xfrm>
          <a:prstGeom prst="roundRect">
            <a:avLst>
              <a:gd name="adj" fmla="val 570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71754" y="2593238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875995" y="2707538"/>
            <a:ext cx="171907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3645713"/>
            <a:ext cx="4419295" cy="1104595"/>
          </a:xfrm>
          <a:prstGeom prst="roundRect">
            <a:avLst>
              <a:gd name="adj" fmla="val 570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771754" y="3845966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05256" y="3960266"/>
            <a:ext cx="114300" cy="1527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" y="4898441"/>
            <a:ext cx="4419295" cy="1104595"/>
          </a:xfrm>
          <a:prstGeom prst="roundRect">
            <a:avLst>
              <a:gd name="adj" fmla="val 570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7"/>
          <p:cNvSpPr/>
          <p:nvPr/>
        </p:nvSpPr>
        <p:spPr>
          <a:xfrm>
            <a:off x="771754" y="5098694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054" y="5212994"/>
            <a:ext cx="152705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763402" y="1047902"/>
            <a:ext cx="866851" cy="247802"/>
          </a:xfrm>
          <a:prstGeom prst="roundRect">
            <a:avLst>
              <a:gd name="adj" fmla="val 5677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9"/>
          <p:cNvSpPr/>
          <p:nvPr/>
        </p:nvSpPr>
        <p:spPr>
          <a:xfrm>
            <a:off x="5676595" y="5162702"/>
            <a:ext cx="1886407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0"/>
          <p:cNvSpPr/>
          <p:nvPr/>
        </p:nvSpPr>
        <p:spPr>
          <a:xfrm>
            <a:off x="7709306" y="5162702"/>
            <a:ext cx="1886407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1"/>
          <p:cNvSpPr/>
          <p:nvPr/>
        </p:nvSpPr>
        <p:spPr>
          <a:xfrm>
            <a:off x="9741103" y="5162702"/>
            <a:ext cx="1886407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2"/>
          <p:cNvSpPr txBox="1"/>
          <p:nvPr/>
        </p:nvSpPr>
        <p:spPr>
          <a:xfrm>
            <a:off x="952805" y="878738"/>
            <a:ext cx="15764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CLASSIFIER ENGINE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1126541"/>
            <a:ext cx="37627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Component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1650492"/>
            <a:ext cx="4381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gradient boosting framework configured for high-precision probability scoring.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304849" y="2612441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Non-Linear Interactions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2878531"/>
            <a:ext cx="31583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complex relationships between the 20 selected lexical features that linear models miss.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304849" y="386516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Calibrated Probabilities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304849" y="4131259"/>
            <a:ext cx="35012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a precise probability score (0.0–1.0), enabling fine-tuned thresholding at 0.55.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304849" y="5116982"/>
            <a:ext cx="1733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Regularization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304849" y="5383987"/>
            <a:ext cx="33485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Subsampling prevents overfitting to noise, ensuring generalization on external data.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76595" y="1043330"/>
            <a:ext cx="237744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991149" y="1047902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config/xgboost_params.py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0848442" y="1104595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RFE-XGB-V1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425489" y="5286146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250838" y="5505602"/>
            <a:ext cx="848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 Levels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469173" y="5286146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236915" y="5505602"/>
            <a:ext cx="9436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200 Units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0290658" y="5286146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RATE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543032" y="5505602"/>
            <a:ext cx="3913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80%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676595" y="1447495"/>
            <a:ext cx="5943600" cy="3486607"/>
          </a:xfrm>
          <a:prstGeom prst="roundRect">
            <a:avLst>
              <a:gd name="adj" fmla="val 57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6" name="Shape 30"/>
          <p:cNvSpPr/>
          <p:nvPr/>
        </p:nvSpPr>
        <p:spPr>
          <a:xfrm>
            <a:off x="6238951" y="1686154"/>
            <a:ext cx="9144" cy="30102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7" name="Text 31"/>
          <p:cNvSpPr txBox="1"/>
          <p:nvPr/>
        </p:nvSpPr>
        <p:spPr>
          <a:xfrm>
            <a:off x="5943600" y="17337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5943600" y="19623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5943600" y="21909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5943600" y="24195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5943600" y="26481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5943600" y="28767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5943600" y="31053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5943600" y="33339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5943600" y="35625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5943600" y="37911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5943600" y="4019702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6395314" y="1742846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xgb_params = {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6395314" y="2009851"/>
            <a:ext cx="40251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"n_estimators": 200, # Sufficient boosting rounds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6395314" y="2276856"/>
            <a:ext cx="37865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"max_depth": 6, # Interaction depth (standard)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6395314" y="2542946"/>
            <a:ext cx="35487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"learning_rate": 0.1, # Step size shrinkage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6395314" y="2809951"/>
            <a:ext cx="44247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"subsample": 0.8, # Row sampling (prevent overfitting)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6395314" y="3076956"/>
            <a:ext cx="35487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"colsample_bytree": 0.8, # Feature sampling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6395314" y="3343046"/>
            <a:ext cx="44247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"objective": "binary:logistic", # Probabilistic output</a:t>
            </a:r>
            <a:endParaRPr lang="en-US" sz="1000" dirty="0"/>
          </a:p>
        </p:txBody>
      </p:sp>
      <p:sp>
        <p:nvSpPr>
          <p:cNvPr id="55" name="Text 49"/>
          <p:cNvSpPr txBox="1"/>
          <p:nvPr/>
        </p:nvSpPr>
        <p:spPr>
          <a:xfrm>
            <a:off x="6395314" y="3610051"/>
            <a:ext cx="3710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"eval_metric": "logloss", # Loss minimization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6395314" y="3877056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"random_state": 42 # Reproducibility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6395314" y="4143146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6395314" y="4486046"/>
            <a:ext cx="4262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Model trained only on top-k (20) selected features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715000" y="4886554"/>
            <a:ext cx="5896051" cy="3840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>
            <a:extLst>
              <a:ext uri="{FF2B5EF4-FFF2-40B4-BE49-F238E27FC236}">
                <a16:creationId xmlns:a16="http://schemas.microsoft.com/office/drawing/2014/main" id="{9BAD94CC-4694-06DE-C894-156B6071E9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Shape 1"/>
          <p:cNvSpPr/>
          <p:nvPr/>
        </p:nvSpPr>
        <p:spPr>
          <a:xfrm>
            <a:off x="571500" y="3448202"/>
            <a:ext cx="110486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571500" y="1601114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571500" y="400507"/>
            <a:ext cx="171907" cy="1527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10432390" y="954634"/>
            <a:ext cx="114300" cy="1335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829446" y="1154887"/>
            <a:ext cx="714146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4"/>
          <p:cNvSpPr/>
          <p:nvPr/>
        </p:nvSpPr>
        <p:spPr>
          <a:xfrm>
            <a:off x="9614916" y="1154887"/>
            <a:ext cx="972007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5"/>
          <p:cNvSpPr/>
          <p:nvPr/>
        </p:nvSpPr>
        <p:spPr>
          <a:xfrm>
            <a:off x="10655503" y="1154887"/>
            <a:ext cx="972007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6"/>
          <p:cNvSpPr/>
          <p:nvPr/>
        </p:nvSpPr>
        <p:spPr>
          <a:xfrm>
            <a:off x="571500" y="6163056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7"/>
          <p:cNvSpPr txBox="1"/>
          <p:nvPr/>
        </p:nvSpPr>
        <p:spPr>
          <a:xfrm>
            <a:off x="819302" y="400507"/>
            <a:ext cx="18818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PRODUCTION PIPELINE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629107"/>
            <a:ext cx="53245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Inference Workflow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1133856"/>
            <a:ext cx="4710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feature processing from raw URL to final label.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623499" y="935431"/>
            <a:ext cx="1100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Artifacts: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896198" y="1183234"/>
            <a:ext cx="6611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model.pkl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9681667" y="1183234"/>
            <a:ext cx="9189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features.json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0722254" y="1183234"/>
            <a:ext cx="9189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threshold.txt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6334049"/>
            <a:ext cx="20766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PIPELINE: INFERENCE FLOW v1.0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140135" y="6334049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 / 10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4205" y="2523744"/>
            <a:ext cx="1828800" cy="1867205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0"/>
          <p:cNvSpPr/>
          <p:nvPr/>
        </p:nvSpPr>
        <p:spPr>
          <a:xfrm>
            <a:off x="1410005" y="27239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1543507" y="2876702"/>
            <a:ext cx="19019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79246" y="3353105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URL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67435" y="3600907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string from gateway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251814" y="3991356"/>
            <a:ext cx="780898" cy="200254"/>
          </a:xfrm>
          <a:prstGeom prst="roundRect">
            <a:avLst>
              <a:gd name="adj" fmla="val 8697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4"/>
          <p:cNvSpPr txBox="1"/>
          <p:nvPr/>
        </p:nvSpPr>
        <p:spPr>
          <a:xfrm>
            <a:off x="1318565" y="4019702"/>
            <a:ext cx="7278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http://...</a:t>
            </a:r>
            <a:endParaRPr lang="en-US" sz="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2648102" y="3362249"/>
            <a:ext cx="123444" cy="19019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723998" y="2523744"/>
            <a:ext cx="2133295" cy="1867205"/>
          </a:xfrm>
          <a:prstGeom prst="roundRect">
            <a:avLst>
              <a:gd name="adj" fmla="val 19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26"/>
          <p:cNvSpPr/>
          <p:nvPr/>
        </p:nvSpPr>
        <p:spPr>
          <a:xfrm>
            <a:off x="3562502" y="27239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 w="254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3696005" y="2876702"/>
            <a:ext cx="190195" cy="15270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2924251" y="3973982"/>
            <a:ext cx="1733702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28"/>
          <p:cNvSpPr txBox="1"/>
          <p:nvPr/>
        </p:nvSpPr>
        <p:spPr>
          <a:xfrm>
            <a:off x="3409798" y="3353105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3265322" y="3600907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Lexical Features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3155594" y="3743554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(URL-Only, No Content)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3215030" y="4002329"/>
            <a:ext cx="12326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build_feature_df()</a:t>
            </a:r>
            <a:endParaRPr lang="en-US" sz="8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4953305" y="3362249"/>
            <a:ext cx="123444" cy="190195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029200" y="2523744"/>
            <a:ext cx="1828800" cy="1867205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33"/>
          <p:cNvSpPr/>
          <p:nvPr/>
        </p:nvSpPr>
        <p:spPr>
          <a:xfrm>
            <a:off x="5715000" y="27239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 w="25400">
            <a:solidFill>
              <a:srgbClr val="8B5C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67705" y="2876702"/>
            <a:ext cx="152705" cy="15270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582412" y="3353105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RFE Mask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5394960" y="3600907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boolean mask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5460797" y="3991356"/>
            <a:ext cx="972007" cy="200254"/>
          </a:xfrm>
          <a:prstGeom prst="roundRect">
            <a:avLst>
              <a:gd name="adj" fmla="val 8697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37"/>
          <p:cNvSpPr txBox="1"/>
          <p:nvPr/>
        </p:nvSpPr>
        <p:spPr>
          <a:xfrm>
            <a:off x="5527548" y="4019702"/>
            <a:ext cx="9189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k=20 Selected</a:t>
            </a:r>
            <a:endParaRPr lang="en-US" sz="8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6953098" y="3362249"/>
            <a:ext cx="123444" cy="190195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7029907" y="2523744"/>
            <a:ext cx="1828800" cy="1867205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39"/>
          <p:cNvSpPr/>
          <p:nvPr/>
        </p:nvSpPr>
        <p:spPr>
          <a:xfrm>
            <a:off x="7715707" y="27239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67498" y="2876702"/>
            <a:ext cx="152705" cy="1527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619695" y="3353105"/>
            <a:ext cx="771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7462418" y="3600907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scoring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7365492" y="3991356"/>
            <a:ext cx="1162202" cy="200254"/>
          </a:xfrm>
          <a:prstGeom prst="roundRect">
            <a:avLst>
              <a:gd name="adj" fmla="val 8697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 43"/>
          <p:cNvSpPr txBox="1"/>
          <p:nvPr/>
        </p:nvSpPr>
        <p:spPr>
          <a:xfrm>
            <a:off x="7432243" y="4019702"/>
            <a:ext cx="11091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predict_proba(X)</a:t>
            </a:r>
            <a:endParaRPr lang="en-US" sz="8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8953805" y="3362249"/>
            <a:ext cx="123444" cy="190195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9029700" y="2523744"/>
            <a:ext cx="2438705" cy="1867205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8" name="Shape 45"/>
          <p:cNvSpPr/>
          <p:nvPr/>
        </p:nvSpPr>
        <p:spPr>
          <a:xfrm>
            <a:off x="9029700" y="2523744"/>
            <a:ext cx="38405" cy="1867205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58300" y="2734056"/>
            <a:ext cx="152705" cy="152705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9258300" y="3019349"/>
            <a:ext cx="2018995" cy="571500"/>
          </a:xfrm>
          <a:prstGeom prst="roundRect">
            <a:avLst>
              <a:gd name="adj" fmla="val 10667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47"/>
          <p:cNvSpPr/>
          <p:nvPr/>
        </p:nvSpPr>
        <p:spPr>
          <a:xfrm>
            <a:off x="9381744" y="3409798"/>
            <a:ext cx="1772107" cy="57607"/>
          </a:xfrm>
          <a:prstGeom prst="roundRect">
            <a:avLst>
              <a:gd name="adj" fmla="val 158730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2" name="Shape 48"/>
          <p:cNvSpPr/>
          <p:nvPr/>
        </p:nvSpPr>
        <p:spPr>
          <a:xfrm>
            <a:off x="10386670" y="3705149"/>
            <a:ext cx="895198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Shape 49"/>
          <p:cNvSpPr/>
          <p:nvPr/>
        </p:nvSpPr>
        <p:spPr>
          <a:xfrm>
            <a:off x="10478110" y="3991356"/>
            <a:ext cx="800100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4" name="Text 50"/>
          <p:cNvSpPr txBox="1"/>
          <p:nvPr/>
        </p:nvSpPr>
        <p:spPr>
          <a:xfrm>
            <a:off x="9486900" y="2723998"/>
            <a:ext cx="12819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LOGIC</a:t>
            </a:r>
            <a:endParaRPr lang="en-US" sz="1000" dirty="0"/>
          </a:p>
        </p:txBody>
      </p:sp>
      <p:sp>
        <p:nvSpPr>
          <p:cNvPr id="65" name="Text 51"/>
          <p:cNvSpPr txBox="1"/>
          <p:nvPr/>
        </p:nvSpPr>
        <p:spPr>
          <a:xfrm>
            <a:off x="9381744" y="3172054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Threshold (T)</a:t>
            </a:r>
            <a:endParaRPr lang="en-US" sz="900" dirty="0"/>
          </a:p>
        </p:txBody>
      </p:sp>
      <p:sp>
        <p:nvSpPr>
          <p:cNvPr id="66" name="Text 52"/>
          <p:cNvSpPr txBox="1"/>
          <p:nvPr/>
        </p:nvSpPr>
        <p:spPr>
          <a:xfrm>
            <a:off x="10833811" y="316199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0.55</a:t>
            </a:r>
            <a:endParaRPr lang="en-US" sz="1000" dirty="0"/>
          </a:p>
        </p:txBody>
      </p:sp>
      <p:sp>
        <p:nvSpPr>
          <p:cNvPr id="67" name="Text 53"/>
          <p:cNvSpPr txBox="1"/>
          <p:nvPr/>
        </p:nvSpPr>
        <p:spPr>
          <a:xfrm>
            <a:off x="9258300" y="3733495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p ≥ T: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10472623" y="3733495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(1)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9258300" y="4019702"/>
            <a:ext cx="342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else:</a:t>
            </a:r>
            <a:endParaRPr lang="en-US" sz="900" dirty="0"/>
          </a:p>
        </p:txBody>
      </p:sp>
      <p:sp>
        <p:nvSpPr>
          <p:cNvPr id="70" name="Text 56"/>
          <p:cNvSpPr txBox="1"/>
          <p:nvPr/>
        </p:nvSpPr>
        <p:spPr>
          <a:xfrm>
            <a:off x="10564063" y="4019702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BENIGN (0)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>
            <a:extLst>
              <a:ext uri="{FF2B5EF4-FFF2-40B4-BE49-F238E27FC236}">
                <a16:creationId xmlns:a16="http://schemas.microsoft.com/office/drawing/2014/main" id="{7842B694-991C-17D6-FCB1-A4E76338808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Shape 1"/>
          <p:cNvSpPr/>
          <p:nvPr/>
        </p:nvSpPr>
        <p:spPr>
          <a:xfrm>
            <a:off x="571500" y="1601114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00507"/>
            <a:ext cx="152705" cy="152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874959" y="1009498"/>
            <a:ext cx="752551" cy="362102"/>
          </a:xfrm>
          <a:prstGeom prst="roundRect">
            <a:avLst>
              <a:gd name="adj" fmla="val 2658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3"/>
          <p:cNvSpPr/>
          <p:nvPr/>
        </p:nvSpPr>
        <p:spPr>
          <a:xfrm>
            <a:off x="571500" y="6059729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4"/>
          <p:cNvSpPr/>
          <p:nvPr/>
        </p:nvSpPr>
        <p:spPr>
          <a:xfrm>
            <a:off x="571500" y="6221578"/>
            <a:ext cx="2038198" cy="256946"/>
          </a:xfrm>
          <a:prstGeom prst="roundRect">
            <a:avLst>
              <a:gd name="adj" fmla="val 35587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694944" y="6296558"/>
            <a:ext cx="95098" cy="1051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59659" y="6221578"/>
            <a:ext cx="942746" cy="256946"/>
          </a:xfrm>
          <a:prstGeom prst="roundRect">
            <a:avLst>
              <a:gd name="adj" fmla="val 35587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84018" y="6296558"/>
            <a:ext cx="105156" cy="1051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" y="400507"/>
            <a:ext cx="15956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VALIDATION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629107"/>
            <a:ext cx="50776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Test Results (Holdout)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133856"/>
            <a:ext cx="3443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on unseen internal test split.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874959" y="819302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1039551" y="1076249"/>
            <a:ext cx="609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0.55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66851" y="6279185"/>
            <a:ext cx="16998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Internal Holdout Results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065069" y="6279185"/>
            <a:ext cx="5943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Data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8945575" y="6282842"/>
            <a:ext cx="2762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RESULTS: INTERNAL SPLIT v1.0 // 08 / 10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71500" y="1990649"/>
            <a:ext cx="2590495" cy="1257300"/>
          </a:xfrm>
          <a:prstGeom prst="roundRect">
            <a:avLst>
              <a:gd name="adj" fmla="val 66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5"/>
          <p:cNvSpPr txBox="1"/>
          <p:nvPr/>
        </p:nvSpPr>
        <p:spPr>
          <a:xfrm>
            <a:off x="809244" y="2238451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71546" y="2229307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9244" y="2419502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99.90%</a:t>
            </a:r>
            <a:endParaRPr lang="en-US" sz="2700" dirty="0"/>
          </a:p>
        </p:txBody>
      </p:sp>
      <p:sp>
        <p:nvSpPr>
          <p:cNvPr id="23" name="Shape 17"/>
          <p:cNvSpPr/>
          <p:nvPr/>
        </p:nvSpPr>
        <p:spPr>
          <a:xfrm>
            <a:off x="809244" y="2971800"/>
            <a:ext cx="2115007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18"/>
          <p:cNvSpPr/>
          <p:nvPr/>
        </p:nvSpPr>
        <p:spPr>
          <a:xfrm>
            <a:off x="809244" y="2971800"/>
            <a:ext cx="2115007" cy="38405"/>
          </a:xfrm>
          <a:prstGeom prst="roundRect">
            <a:avLst>
              <a:gd name="adj" fmla="val 119047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Shape 19"/>
          <p:cNvSpPr/>
          <p:nvPr/>
        </p:nvSpPr>
        <p:spPr>
          <a:xfrm>
            <a:off x="3390595" y="1990649"/>
            <a:ext cx="2590495" cy="1257300"/>
          </a:xfrm>
          <a:prstGeom prst="roundRect">
            <a:avLst>
              <a:gd name="adj" fmla="val 66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0"/>
          <p:cNvSpPr txBox="1"/>
          <p:nvPr/>
        </p:nvSpPr>
        <p:spPr>
          <a:xfrm>
            <a:off x="3629254" y="2238451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PR-AUC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91556" y="2229307"/>
            <a:ext cx="15270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629254" y="2419502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99.92%</a:t>
            </a:r>
            <a:endParaRPr lang="en-US" sz="2700" dirty="0"/>
          </a:p>
        </p:txBody>
      </p:sp>
      <p:sp>
        <p:nvSpPr>
          <p:cNvPr id="29" name="Shape 22"/>
          <p:cNvSpPr/>
          <p:nvPr/>
        </p:nvSpPr>
        <p:spPr>
          <a:xfrm>
            <a:off x="3629254" y="2971800"/>
            <a:ext cx="2115007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Shape 23"/>
          <p:cNvSpPr/>
          <p:nvPr/>
        </p:nvSpPr>
        <p:spPr>
          <a:xfrm>
            <a:off x="3629254" y="2971800"/>
            <a:ext cx="2115007" cy="38405"/>
          </a:xfrm>
          <a:prstGeom prst="roundRect">
            <a:avLst>
              <a:gd name="adj" fmla="val 119047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Shape 24"/>
          <p:cNvSpPr/>
          <p:nvPr/>
        </p:nvSpPr>
        <p:spPr>
          <a:xfrm>
            <a:off x="6210605" y="1990649"/>
            <a:ext cx="2590495" cy="1257300"/>
          </a:xfrm>
          <a:prstGeom prst="roundRect">
            <a:avLst>
              <a:gd name="adj" fmla="val 66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25"/>
          <p:cNvSpPr txBox="1"/>
          <p:nvPr/>
        </p:nvSpPr>
        <p:spPr>
          <a:xfrm>
            <a:off x="6448349" y="2238451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10651" y="2229307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48349" y="2419502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99.42%</a:t>
            </a:r>
            <a:endParaRPr lang="en-US" sz="2700" dirty="0"/>
          </a:p>
        </p:txBody>
      </p:sp>
      <p:sp>
        <p:nvSpPr>
          <p:cNvPr id="35" name="Shape 27"/>
          <p:cNvSpPr/>
          <p:nvPr/>
        </p:nvSpPr>
        <p:spPr>
          <a:xfrm>
            <a:off x="6448349" y="2971800"/>
            <a:ext cx="2115007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6" name="Shape 28"/>
          <p:cNvSpPr/>
          <p:nvPr/>
        </p:nvSpPr>
        <p:spPr>
          <a:xfrm>
            <a:off x="6448349" y="2971800"/>
            <a:ext cx="2104949" cy="38405"/>
          </a:xfrm>
          <a:prstGeom prst="roundRect">
            <a:avLst>
              <a:gd name="adj" fmla="val 119047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7" name="Shape 29"/>
          <p:cNvSpPr/>
          <p:nvPr/>
        </p:nvSpPr>
        <p:spPr>
          <a:xfrm>
            <a:off x="9029700" y="1990649"/>
            <a:ext cx="2590495" cy="1257300"/>
          </a:xfrm>
          <a:prstGeom prst="roundRect">
            <a:avLst>
              <a:gd name="adj" fmla="val 66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Text 30"/>
          <p:cNvSpPr txBox="1"/>
          <p:nvPr/>
        </p:nvSpPr>
        <p:spPr>
          <a:xfrm>
            <a:off x="9267444" y="2238451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11192256" y="2229307"/>
            <a:ext cx="190195" cy="15270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267444" y="2419502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99.41%</a:t>
            </a:r>
            <a:endParaRPr lang="en-US" sz="2700" dirty="0"/>
          </a:p>
        </p:txBody>
      </p:sp>
      <p:sp>
        <p:nvSpPr>
          <p:cNvPr id="41" name="Shape 32"/>
          <p:cNvSpPr/>
          <p:nvPr/>
        </p:nvSpPr>
        <p:spPr>
          <a:xfrm>
            <a:off x="9267444" y="2971800"/>
            <a:ext cx="2115007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2" name="Shape 33"/>
          <p:cNvSpPr/>
          <p:nvPr/>
        </p:nvSpPr>
        <p:spPr>
          <a:xfrm>
            <a:off x="9267444" y="2971800"/>
            <a:ext cx="2104949" cy="38405"/>
          </a:xfrm>
          <a:prstGeom prst="roundRect">
            <a:avLst>
              <a:gd name="adj" fmla="val 119047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3" name="Shape 34"/>
          <p:cNvSpPr/>
          <p:nvPr/>
        </p:nvSpPr>
        <p:spPr>
          <a:xfrm>
            <a:off x="571500" y="3552444"/>
            <a:ext cx="3534156" cy="2210105"/>
          </a:xfrm>
          <a:prstGeom prst="roundRect">
            <a:avLst>
              <a:gd name="adj" fmla="val 214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35"/>
          <p:cNvSpPr/>
          <p:nvPr/>
        </p:nvSpPr>
        <p:spPr>
          <a:xfrm>
            <a:off x="809244" y="3791102"/>
            <a:ext cx="552298" cy="580644"/>
          </a:xfrm>
          <a:prstGeom prst="roundRect">
            <a:avLst>
              <a:gd name="adj" fmla="val 16556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2007" y="3952951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514246" y="3843223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(TPR)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1514246" y="3995928"/>
            <a:ext cx="12527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98.98%</a:t>
            </a:r>
            <a:endParaRPr lang="en-US" sz="2200" dirty="0"/>
          </a:p>
        </p:txBody>
      </p:sp>
      <p:sp>
        <p:nvSpPr>
          <p:cNvPr id="48" name="Text 38"/>
          <p:cNvSpPr txBox="1"/>
          <p:nvPr/>
        </p:nvSpPr>
        <p:spPr>
          <a:xfrm>
            <a:off x="809244" y="5164531"/>
            <a:ext cx="3086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sensitivity ensures nearly all malicious URLs in the holdout set were correctly flagged.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4330598" y="3552444"/>
            <a:ext cx="3534156" cy="2210105"/>
          </a:xfrm>
          <a:prstGeom prst="roundRect">
            <a:avLst>
              <a:gd name="adj" fmla="val 214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0"/>
          <p:cNvSpPr/>
          <p:nvPr/>
        </p:nvSpPr>
        <p:spPr>
          <a:xfrm>
            <a:off x="4568342" y="3791102"/>
            <a:ext cx="552298" cy="580644"/>
          </a:xfrm>
          <a:prstGeom prst="roundRect">
            <a:avLst>
              <a:gd name="adj" fmla="val 16556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31106" y="3952951"/>
            <a:ext cx="228600" cy="2286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273345" y="3843223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5273345" y="3995928"/>
            <a:ext cx="12527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99.85%</a:t>
            </a:r>
            <a:endParaRPr lang="en-US" sz="2200" dirty="0"/>
          </a:p>
        </p:txBody>
      </p:sp>
      <p:sp>
        <p:nvSpPr>
          <p:cNvPr id="54" name="Text 43"/>
          <p:cNvSpPr txBox="1"/>
          <p:nvPr/>
        </p:nvSpPr>
        <p:spPr>
          <a:xfrm>
            <a:off x="4568342" y="5164531"/>
            <a:ext cx="3001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Extremely low false alarm rate on positive predictions, building user trust.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8089697" y="3552444"/>
            <a:ext cx="3534156" cy="2210105"/>
          </a:xfrm>
          <a:prstGeom prst="roundRect">
            <a:avLst>
              <a:gd name="adj" fmla="val 214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45"/>
          <p:cNvSpPr/>
          <p:nvPr/>
        </p:nvSpPr>
        <p:spPr>
          <a:xfrm>
            <a:off x="8328355" y="3791102"/>
            <a:ext cx="552298" cy="580644"/>
          </a:xfrm>
          <a:prstGeom prst="roundRect">
            <a:avLst>
              <a:gd name="adj" fmla="val 16556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90204" y="3952951"/>
            <a:ext cx="228600" cy="22860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032443" y="3843223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 RATE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9032443" y="3995928"/>
            <a:ext cx="10817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0.15%</a:t>
            </a:r>
            <a:endParaRPr lang="en-US" sz="2200" dirty="0"/>
          </a:p>
        </p:txBody>
      </p:sp>
      <p:sp>
        <p:nvSpPr>
          <p:cNvPr id="60" name="Text 48"/>
          <p:cNvSpPr txBox="1"/>
          <p:nvPr/>
        </p:nvSpPr>
        <p:spPr>
          <a:xfrm>
            <a:off x="8328355" y="5164531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than 2 in 1000 benign URLs are incorrectly flagged. Critical for production deployment.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571500" y="1601114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00507"/>
            <a:ext cx="152705" cy="152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37730" y="629107"/>
            <a:ext cx="4190695" cy="743407"/>
          </a:xfrm>
          <a:prstGeom prst="roundRect">
            <a:avLst>
              <a:gd name="adj" fmla="val 1261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75474" y="1028700"/>
            <a:ext cx="133502" cy="1335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52483" y="847649"/>
            <a:ext cx="9144" cy="304495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4"/>
          <p:cNvSpPr/>
          <p:nvPr/>
        </p:nvSpPr>
        <p:spPr>
          <a:xfrm>
            <a:off x="571500" y="6096305"/>
            <a:ext cx="110486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7"/>
          <p:cNvSpPr txBox="1"/>
          <p:nvPr/>
        </p:nvSpPr>
        <p:spPr>
          <a:xfrm>
            <a:off x="800100" y="400507"/>
            <a:ext cx="21579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PERFORMANCE VALIDATION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629107"/>
            <a:ext cx="41440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Dataset Results</a:t>
            </a:r>
            <a:endParaRPr lang="en-US" sz="27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1133856"/>
            <a:ext cx="44339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 performance on unseen data (rfe_xgb).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675474" y="752551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THRESHOLD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885786" y="942746"/>
            <a:ext cx="724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667037" y="790956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9667037" y="990295"/>
            <a:ext cx="1695298" cy="237744"/>
          </a:xfrm>
          <a:prstGeom prst="roundRect">
            <a:avLst>
              <a:gd name="adj" fmla="val 615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4"/>
          <p:cNvSpPr txBox="1"/>
          <p:nvPr/>
        </p:nvSpPr>
        <p:spPr>
          <a:xfrm>
            <a:off x="9752076" y="1037844"/>
            <a:ext cx="1610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Recall @ Low FPR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6314846"/>
            <a:ext cx="2496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DATASET: EXTERNAL // MODEL: RFE_XGB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53521" y="63057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10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71500" y="1990649"/>
            <a:ext cx="3534156" cy="1676095"/>
          </a:xfrm>
          <a:prstGeom prst="roundRect">
            <a:avLst>
              <a:gd name="adj" fmla="val 2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18"/>
          <p:cNvSpPr txBox="1"/>
          <p:nvPr/>
        </p:nvSpPr>
        <p:spPr>
          <a:xfrm>
            <a:off x="838505" y="2238451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 SCORE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38505" y="2457907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Under Curve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97250" y="2343607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38505" y="2686507"/>
            <a:ext cx="19915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90.00%</a:t>
            </a:r>
            <a:endParaRPr lang="en-US" sz="3600" dirty="0"/>
          </a:p>
        </p:txBody>
      </p:sp>
      <p:sp>
        <p:nvSpPr>
          <p:cNvPr id="27" name="Shape 21"/>
          <p:cNvSpPr/>
          <p:nvPr/>
        </p:nvSpPr>
        <p:spPr>
          <a:xfrm>
            <a:off x="838505" y="3372307"/>
            <a:ext cx="3029407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Shape 22"/>
          <p:cNvSpPr/>
          <p:nvPr/>
        </p:nvSpPr>
        <p:spPr>
          <a:xfrm>
            <a:off x="4330598" y="1990649"/>
            <a:ext cx="3534156" cy="1676095"/>
          </a:xfrm>
          <a:prstGeom prst="roundRect">
            <a:avLst>
              <a:gd name="adj" fmla="val 2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3"/>
          <p:cNvSpPr txBox="1"/>
          <p:nvPr/>
        </p:nvSpPr>
        <p:spPr>
          <a:xfrm>
            <a:off x="4597603" y="2238451"/>
            <a:ext cx="881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597603" y="2457907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Correctness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56348" y="2343607"/>
            <a:ext cx="152705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597603" y="2686507"/>
            <a:ext cx="19915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90.30%</a:t>
            </a:r>
            <a:endParaRPr lang="en-US" sz="3600" dirty="0"/>
          </a:p>
        </p:txBody>
      </p:sp>
      <p:sp>
        <p:nvSpPr>
          <p:cNvPr id="33" name="Shape 26"/>
          <p:cNvSpPr/>
          <p:nvPr/>
        </p:nvSpPr>
        <p:spPr>
          <a:xfrm>
            <a:off x="4597603" y="3372307"/>
            <a:ext cx="3029407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4" name="Shape 27"/>
          <p:cNvSpPr/>
          <p:nvPr/>
        </p:nvSpPr>
        <p:spPr>
          <a:xfrm>
            <a:off x="4597603" y="3372307"/>
            <a:ext cx="2734056" cy="57607"/>
          </a:xfrm>
          <a:prstGeom prst="roundRect">
            <a:avLst>
              <a:gd name="adj" fmla="val 793654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5" name="Shape 28"/>
          <p:cNvSpPr/>
          <p:nvPr/>
        </p:nvSpPr>
        <p:spPr>
          <a:xfrm>
            <a:off x="8089697" y="1990649"/>
            <a:ext cx="3534156" cy="1676095"/>
          </a:xfrm>
          <a:prstGeom prst="roundRect">
            <a:avLst>
              <a:gd name="adj" fmla="val 2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29"/>
          <p:cNvSpPr txBox="1"/>
          <p:nvPr/>
        </p:nvSpPr>
        <p:spPr>
          <a:xfrm>
            <a:off x="8356702" y="2238451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8356702" y="2457907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in Alerts</a:t>
            </a:r>
            <a:endParaRPr lang="en-US" sz="9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115446" y="2343607"/>
            <a:ext cx="152705" cy="15270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356702" y="2686507"/>
            <a:ext cx="19915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97.15%</a:t>
            </a:r>
            <a:endParaRPr lang="en-US" sz="3600" dirty="0"/>
          </a:p>
        </p:txBody>
      </p:sp>
      <p:sp>
        <p:nvSpPr>
          <p:cNvPr id="40" name="Shape 32"/>
          <p:cNvSpPr/>
          <p:nvPr/>
        </p:nvSpPr>
        <p:spPr>
          <a:xfrm>
            <a:off x="8356702" y="3372307"/>
            <a:ext cx="3029407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1" name="Shape 33"/>
          <p:cNvSpPr/>
          <p:nvPr/>
        </p:nvSpPr>
        <p:spPr>
          <a:xfrm>
            <a:off x="8356702" y="3372307"/>
            <a:ext cx="2943454" cy="57607"/>
          </a:xfrm>
          <a:prstGeom prst="roundRect">
            <a:avLst>
              <a:gd name="adj" fmla="val 793654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2" name="Shape 34"/>
          <p:cNvSpPr/>
          <p:nvPr/>
        </p:nvSpPr>
        <p:spPr>
          <a:xfrm>
            <a:off x="571500" y="3895344"/>
            <a:ext cx="5410505" cy="1895551"/>
          </a:xfrm>
          <a:prstGeom prst="roundRect">
            <a:avLst>
              <a:gd name="adj" fmla="val 19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35"/>
          <p:cNvSpPr txBox="1"/>
          <p:nvPr/>
        </p:nvSpPr>
        <p:spPr>
          <a:xfrm>
            <a:off x="838505" y="4143146"/>
            <a:ext cx="16431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(SENSITIVITY)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838505" y="4362602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of actual threats</a:t>
            </a:r>
            <a:endParaRPr lang="en-US" sz="9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5486400" y="4248302"/>
            <a:ext cx="133502" cy="15270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38505" y="4515307"/>
            <a:ext cx="19915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79.70%</a:t>
            </a:r>
            <a:endParaRPr lang="en-US" sz="3600" dirty="0"/>
          </a:p>
        </p:txBody>
      </p:sp>
      <p:sp>
        <p:nvSpPr>
          <p:cNvPr id="47" name="Shape 38"/>
          <p:cNvSpPr/>
          <p:nvPr/>
        </p:nvSpPr>
        <p:spPr>
          <a:xfrm>
            <a:off x="2598725" y="4828946"/>
            <a:ext cx="12006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Text 39"/>
          <p:cNvSpPr txBox="1"/>
          <p:nvPr/>
        </p:nvSpPr>
        <p:spPr>
          <a:xfrm>
            <a:off x="2684678" y="4876495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 Gap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838505" y="5229454"/>
            <a:ext cx="4905756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8505" y="5419649"/>
            <a:ext cx="114300" cy="1143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028700" y="5400446"/>
            <a:ext cx="4077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Lower recall vs internal test (98%) is expected on external datasets.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6210605" y="3895344"/>
            <a:ext cx="5410505" cy="1895551"/>
          </a:xfrm>
          <a:prstGeom prst="roundRect">
            <a:avLst>
              <a:gd name="adj" fmla="val 19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Text 43"/>
          <p:cNvSpPr txBox="1"/>
          <p:nvPr/>
        </p:nvSpPr>
        <p:spPr>
          <a:xfrm>
            <a:off x="6476695" y="4143146"/>
            <a:ext cx="1996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 RATE (FPR)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6476695" y="4362602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 sites flagged</a:t>
            </a:r>
            <a:endParaRPr lang="en-US" sz="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115446" y="4248302"/>
            <a:ext cx="152705" cy="15270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476695" y="4515307"/>
            <a:ext cx="17245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1.75%</a:t>
            </a:r>
            <a:endParaRPr lang="en-US" sz="3600" dirty="0"/>
          </a:p>
        </p:txBody>
      </p:sp>
      <p:sp>
        <p:nvSpPr>
          <p:cNvPr id="57" name="Shape 46"/>
          <p:cNvSpPr/>
          <p:nvPr/>
        </p:nvSpPr>
        <p:spPr>
          <a:xfrm>
            <a:off x="7962595" y="4828946"/>
            <a:ext cx="1647749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048549" y="4891126"/>
            <a:ext cx="105156" cy="114300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8191195" y="4876495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Ready (&lt;2%)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6476695" y="5229454"/>
            <a:ext cx="4905756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1" name="Text 49"/>
          <p:cNvSpPr txBox="1"/>
          <p:nvPr/>
        </p:nvSpPr>
        <p:spPr>
          <a:xfrm>
            <a:off x="6476695" y="5400446"/>
            <a:ext cx="4267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Extremely low false alarm rate ensures minimal disruption to user experience.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>
            <a:extLst>
              <a:ext uri="{FF2B5EF4-FFF2-40B4-BE49-F238E27FC236}">
                <a16:creationId xmlns:a16="http://schemas.microsoft.com/office/drawing/2014/main" id="{D2C30061-B3A1-8F11-E8F1-CC434DD5839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3BFF975C-BA58-1F48-81FD-1844850DE99A}"/>
              </a:ext>
            </a:extLst>
          </p:cNvPr>
          <p:cNvSpPr/>
          <p:nvPr/>
        </p:nvSpPr>
        <p:spPr>
          <a:xfrm>
            <a:off x="457200" y="1524304"/>
            <a:ext cx="11277295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A7BF70FB-5EAB-FFE6-1021-0C6FD17655C2}"/>
              </a:ext>
            </a:extLst>
          </p:cNvPr>
          <p:cNvSpPr/>
          <p:nvPr/>
        </p:nvSpPr>
        <p:spPr>
          <a:xfrm>
            <a:off x="457200" y="5072176"/>
            <a:ext cx="11277295" cy="4571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B1451CD4-360F-027E-1763-317175F17B72}"/>
              </a:ext>
            </a:extLst>
          </p:cNvPr>
          <p:cNvSpPr txBox="1"/>
          <p:nvPr/>
        </p:nvSpPr>
        <p:spPr>
          <a:xfrm>
            <a:off x="457200" y="666597"/>
            <a:ext cx="3448202" cy="804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4500" dirty="0"/>
          </a:p>
        </p:txBody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23C48189-4AF0-CF8F-6868-C52EC6B9CF82}"/>
              </a:ext>
            </a:extLst>
          </p:cNvPr>
          <p:cNvSpPr txBox="1"/>
          <p:nvPr/>
        </p:nvSpPr>
        <p:spPr>
          <a:xfrm>
            <a:off x="9553651" y="866850"/>
            <a:ext cx="2319833" cy="23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RFE + XGBoost Framework</a:t>
            </a:r>
            <a:endParaRPr lang="en-US" sz="1300" dirty="0"/>
          </a:p>
        </p:txBody>
      </p:sp>
      <p:sp>
        <p:nvSpPr>
          <p:cNvPr id="75" name="Text 6">
            <a:extLst>
              <a:ext uri="{FF2B5EF4-FFF2-40B4-BE49-F238E27FC236}">
                <a16:creationId xmlns:a16="http://schemas.microsoft.com/office/drawing/2014/main" id="{40618B45-6B1C-B975-13A2-7CB75E111E31}"/>
              </a:ext>
            </a:extLst>
          </p:cNvPr>
          <p:cNvSpPr txBox="1"/>
          <p:nvPr/>
        </p:nvSpPr>
        <p:spPr>
          <a:xfrm>
            <a:off x="10454335" y="1104595"/>
            <a:ext cx="1386230" cy="21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FINAL_BUILD_V1.0</a:t>
            </a:r>
            <a:endParaRPr lang="en-US" sz="1000" dirty="0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47AEE545-E9FC-8AFF-FB6E-0AEDF95711AE}"/>
              </a:ext>
            </a:extLst>
          </p:cNvPr>
          <p:cNvSpPr/>
          <p:nvPr/>
        </p:nvSpPr>
        <p:spPr>
          <a:xfrm>
            <a:off x="457200" y="1990649"/>
            <a:ext cx="3562502" cy="3261732"/>
          </a:xfrm>
          <a:prstGeom prst="roundRect">
            <a:avLst>
              <a:gd name="adj" fmla="val 13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CF160FFA-83D5-45B1-9FC7-336C3DBED81F}"/>
              </a:ext>
            </a:extLst>
          </p:cNvPr>
          <p:cNvSpPr/>
          <p:nvPr/>
        </p:nvSpPr>
        <p:spPr>
          <a:xfrm>
            <a:off x="466344" y="2000707"/>
            <a:ext cx="3543300" cy="45719"/>
          </a:xfrm>
          <a:prstGeom prst="roundRect">
            <a:avLst>
              <a:gd name="adj" fmla="val 2380940"/>
            </a:avLst>
          </a:prstGeom>
          <a:solidFill>
            <a:srgbClr val="3B82F6">
              <a:alpha val="8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D9CD3025-2D92-8F38-BEF6-D191939D4CC6}"/>
              </a:ext>
            </a:extLst>
          </p:cNvPr>
          <p:cNvSpPr/>
          <p:nvPr/>
        </p:nvSpPr>
        <p:spPr>
          <a:xfrm>
            <a:off x="771754" y="2305202"/>
            <a:ext cx="533095" cy="625111"/>
          </a:xfrm>
          <a:prstGeom prst="roundRect">
            <a:avLst>
              <a:gd name="adj" fmla="val 2450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81" name="Image 0" descr="preencoded.png">
            <a:extLst>
              <a:ext uri="{FF2B5EF4-FFF2-40B4-BE49-F238E27FC236}">
                <a16:creationId xmlns:a16="http://schemas.microsoft.com/office/drawing/2014/main" id="{49F86CFD-81EC-82A8-A102-7F9B52D24C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909828" y="2457907"/>
            <a:ext cx="256946" cy="268058"/>
          </a:xfrm>
          <a:prstGeom prst="rect">
            <a:avLst/>
          </a:prstGeom>
        </p:spPr>
      </p:pic>
      <p:sp>
        <p:nvSpPr>
          <p:cNvPr id="82" name="Shape 12">
            <a:extLst>
              <a:ext uri="{FF2B5EF4-FFF2-40B4-BE49-F238E27FC236}">
                <a16:creationId xmlns:a16="http://schemas.microsoft.com/office/drawing/2014/main" id="{F137FF82-C2FF-411F-5C7A-80B98F493304}"/>
              </a:ext>
            </a:extLst>
          </p:cNvPr>
          <p:cNvSpPr/>
          <p:nvPr/>
        </p:nvSpPr>
        <p:spPr>
          <a:xfrm>
            <a:off x="2997403" y="2457907"/>
            <a:ext cx="705002" cy="268058"/>
          </a:xfrm>
          <a:prstGeom prst="roundRect">
            <a:avLst>
              <a:gd name="adj" fmla="val 66667"/>
            </a:avLst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AB33F949-B4E3-E690-34B9-985620DD0823}"/>
              </a:ext>
            </a:extLst>
          </p:cNvPr>
          <p:cNvSpPr txBox="1"/>
          <p:nvPr/>
        </p:nvSpPr>
        <p:spPr>
          <a:xfrm>
            <a:off x="3074213" y="2495398"/>
            <a:ext cx="638251" cy="17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900" dirty="0"/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05209D63-B20D-6C5C-B4DB-60AD5D1A776C}"/>
              </a:ext>
            </a:extLst>
          </p:cNvPr>
          <p:cNvSpPr txBox="1"/>
          <p:nvPr/>
        </p:nvSpPr>
        <p:spPr>
          <a:xfrm>
            <a:off x="771754" y="3076956"/>
            <a:ext cx="2324405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Architecture</a:t>
            </a:r>
            <a:endParaRPr lang="en-US" sz="1800" dirty="0"/>
          </a:p>
        </p:txBody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25282B91-0512-8160-8C7F-8B79E9DC0857}"/>
              </a:ext>
            </a:extLst>
          </p:cNvPr>
          <p:cNvSpPr txBox="1"/>
          <p:nvPr/>
        </p:nvSpPr>
        <p:spPr>
          <a:xfrm>
            <a:off x="771754" y="3562502"/>
            <a:ext cx="2924251" cy="995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URL-only lexical features → RFE selects k=20 → XGBoost classifier.</a:t>
            </a:r>
            <a:endParaRPr lang="en-US" sz="1500" dirty="0"/>
          </a:p>
        </p:txBody>
      </p:sp>
      <p:sp>
        <p:nvSpPr>
          <p:cNvPr id="86" name="Shape 16">
            <a:extLst>
              <a:ext uri="{FF2B5EF4-FFF2-40B4-BE49-F238E27FC236}">
                <a16:creationId xmlns:a16="http://schemas.microsoft.com/office/drawing/2014/main" id="{37A661BF-E7BD-2800-3AEA-CF5CF37AE6C2}"/>
              </a:ext>
            </a:extLst>
          </p:cNvPr>
          <p:cNvSpPr/>
          <p:nvPr/>
        </p:nvSpPr>
        <p:spPr>
          <a:xfrm>
            <a:off x="4317797" y="1990649"/>
            <a:ext cx="3562502" cy="3261732"/>
          </a:xfrm>
          <a:prstGeom prst="roundRect">
            <a:avLst>
              <a:gd name="adj" fmla="val 13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7" name="Shape 17">
            <a:extLst>
              <a:ext uri="{FF2B5EF4-FFF2-40B4-BE49-F238E27FC236}">
                <a16:creationId xmlns:a16="http://schemas.microsoft.com/office/drawing/2014/main" id="{2DE7D485-B74C-3725-DA21-250BA8121091}"/>
              </a:ext>
            </a:extLst>
          </p:cNvPr>
          <p:cNvSpPr/>
          <p:nvPr/>
        </p:nvSpPr>
        <p:spPr>
          <a:xfrm>
            <a:off x="4327855" y="2000707"/>
            <a:ext cx="3543300" cy="45719"/>
          </a:xfrm>
          <a:prstGeom prst="roundRect">
            <a:avLst>
              <a:gd name="adj" fmla="val 2380940"/>
            </a:avLst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8" name="Shape 18">
            <a:extLst>
              <a:ext uri="{FF2B5EF4-FFF2-40B4-BE49-F238E27FC236}">
                <a16:creationId xmlns:a16="http://schemas.microsoft.com/office/drawing/2014/main" id="{C38EA64B-1FC7-F051-47E3-71077DBD1447}"/>
              </a:ext>
            </a:extLst>
          </p:cNvPr>
          <p:cNvSpPr/>
          <p:nvPr/>
        </p:nvSpPr>
        <p:spPr>
          <a:xfrm>
            <a:off x="4632350" y="2305202"/>
            <a:ext cx="533095" cy="625111"/>
          </a:xfrm>
          <a:prstGeom prst="roundRect">
            <a:avLst>
              <a:gd name="adj" fmla="val 2450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89" name="Image 1" descr="preencoded.png">
            <a:extLst>
              <a:ext uri="{FF2B5EF4-FFF2-40B4-BE49-F238E27FC236}">
                <a16:creationId xmlns:a16="http://schemas.microsoft.com/office/drawing/2014/main" id="{B0F598F9-E0BA-E49E-5B1E-C1F47A27A8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5055" y="2457907"/>
            <a:ext cx="228600" cy="268058"/>
          </a:xfrm>
          <a:prstGeom prst="rect">
            <a:avLst/>
          </a:prstGeom>
        </p:spPr>
      </p:pic>
      <p:sp>
        <p:nvSpPr>
          <p:cNvPr id="90" name="Shape 19">
            <a:extLst>
              <a:ext uri="{FF2B5EF4-FFF2-40B4-BE49-F238E27FC236}">
                <a16:creationId xmlns:a16="http://schemas.microsoft.com/office/drawing/2014/main" id="{694A47B5-9C6D-F102-ABFD-7A2F01FCD2B2}"/>
              </a:ext>
            </a:extLst>
          </p:cNvPr>
          <p:cNvSpPr/>
          <p:nvPr/>
        </p:nvSpPr>
        <p:spPr>
          <a:xfrm>
            <a:off x="6515100" y="2457907"/>
            <a:ext cx="1047902" cy="268058"/>
          </a:xfrm>
          <a:prstGeom prst="roundRect">
            <a:avLst>
              <a:gd name="adj" fmla="val 66667"/>
            </a:avLst>
          </a:prstGeom>
          <a:solidFill>
            <a:srgbClr val="064E3B">
              <a:alpha val="3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1" name="Text 20">
            <a:extLst>
              <a:ext uri="{FF2B5EF4-FFF2-40B4-BE49-F238E27FC236}">
                <a16:creationId xmlns:a16="http://schemas.microsoft.com/office/drawing/2014/main" id="{45A28283-B5BD-7B90-2999-2A4D9F05FE22}"/>
              </a:ext>
            </a:extLst>
          </p:cNvPr>
          <p:cNvSpPr txBox="1"/>
          <p:nvPr/>
        </p:nvSpPr>
        <p:spPr>
          <a:xfrm>
            <a:off x="6591910" y="2495398"/>
            <a:ext cx="981151" cy="17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TEST</a:t>
            </a:r>
            <a:endParaRPr lang="en-US" sz="900" dirty="0"/>
          </a:p>
        </p:txBody>
      </p:sp>
      <p:sp>
        <p:nvSpPr>
          <p:cNvPr id="92" name="Text 21">
            <a:extLst>
              <a:ext uri="{FF2B5EF4-FFF2-40B4-BE49-F238E27FC236}">
                <a16:creationId xmlns:a16="http://schemas.microsoft.com/office/drawing/2014/main" id="{D413E0F5-E2D4-8C12-1EA4-BA7EE00577ED}"/>
              </a:ext>
            </a:extLst>
          </p:cNvPr>
          <p:cNvSpPr txBox="1"/>
          <p:nvPr/>
        </p:nvSpPr>
        <p:spPr>
          <a:xfrm>
            <a:off x="4632350" y="3076956"/>
            <a:ext cx="2200961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Metrics</a:t>
            </a:r>
            <a:endParaRPr lang="en-US" sz="1800" dirty="0"/>
          </a:p>
        </p:txBody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444D209D-2025-0B3B-4B74-5E06AEACF4B7}"/>
              </a:ext>
            </a:extLst>
          </p:cNvPr>
          <p:cNvSpPr txBox="1"/>
          <p:nvPr/>
        </p:nvSpPr>
        <p:spPr>
          <a:xfrm>
            <a:off x="4632350" y="3562502"/>
            <a:ext cx="3057754" cy="995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threshold T=0.55 achieved ~99% performance on internal test data.</a:t>
            </a:r>
            <a:endParaRPr lang="en-US" sz="1500" dirty="0"/>
          </a:p>
        </p:txBody>
      </p:sp>
      <p:sp>
        <p:nvSpPr>
          <p:cNvPr id="94" name="Shape 23">
            <a:extLst>
              <a:ext uri="{FF2B5EF4-FFF2-40B4-BE49-F238E27FC236}">
                <a16:creationId xmlns:a16="http://schemas.microsoft.com/office/drawing/2014/main" id="{4CF96745-7A00-2B79-C51F-C67877B4D7C2}"/>
              </a:ext>
            </a:extLst>
          </p:cNvPr>
          <p:cNvSpPr/>
          <p:nvPr/>
        </p:nvSpPr>
        <p:spPr>
          <a:xfrm>
            <a:off x="8178394" y="1990649"/>
            <a:ext cx="3562502" cy="3261732"/>
          </a:xfrm>
          <a:prstGeom prst="roundRect">
            <a:avLst>
              <a:gd name="adj" fmla="val 13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5" name="Shape 24">
            <a:extLst>
              <a:ext uri="{FF2B5EF4-FFF2-40B4-BE49-F238E27FC236}">
                <a16:creationId xmlns:a16="http://schemas.microsoft.com/office/drawing/2014/main" id="{2E728D50-3643-D96D-7EDB-19910B285B26}"/>
              </a:ext>
            </a:extLst>
          </p:cNvPr>
          <p:cNvSpPr/>
          <p:nvPr/>
        </p:nvSpPr>
        <p:spPr>
          <a:xfrm>
            <a:off x="8188452" y="2000707"/>
            <a:ext cx="3543300" cy="45719"/>
          </a:xfrm>
          <a:prstGeom prst="roundRect">
            <a:avLst>
              <a:gd name="adj" fmla="val 2380940"/>
            </a:avLst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6" name="Shape 25">
            <a:extLst>
              <a:ext uri="{FF2B5EF4-FFF2-40B4-BE49-F238E27FC236}">
                <a16:creationId xmlns:a16="http://schemas.microsoft.com/office/drawing/2014/main" id="{3E8ECD3C-A5B5-C7B0-0CB3-9CE086CF3C1A}"/>
              </a:ext>
            </a:extLst>
          </p:cNvPr>
          <p:cNvSpPr/>
          <p:nvPr/>
        </p:nvSpPr>
        <p:spPr>
          <a:xfrm>
            <a:off x="8492947" y="2305202"/>
            <a:ext cx="533095" cy="625111"/>
          </a:xfrm>
          <a:prstGeom prst="roundRect">
            <a:avLst>
              <a:gd name="adj" fmla="val 2450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97" name="Image 2" descr="preencoded.png">
            <a:extLst>
              <a:ext uri="{FF2B5EF4-FFF2-40B4-BE49-F238E27FC236}">
                <a16:creationId xmlns:a16="http://schemas.microsoft.com/office/drawing/2014/main" id="{4260A029-F852-986E-B630-FE570A026C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45652" y="2457907"/>
            <a:ext cx="228600" cy="268058"/>
          </a:xfrm>
          <a:prstGeom prst="rect">
            <a:avLst/>
          </a:prstGeom>
        </p:spPr>
      </p:pic>
      <p:sp>
        <p:nvSpPr>
          <p:cNvPr id="98" name="Shape 26">
            <a:extLst>
              <a:ext uri="{FF2B5EF4-FFF2-40B4-BE49-F238E27FC236}">
                <a16:creationId xmlns:a16="http://schemas.microsoft.com/office/drawing/2014/main" id="{75047A32-0D74-08E2-0285-77DA550409E7}"/>
              </a:ext>
            </a:extLst>
          </p:cNvPr>
          <p:cNvSpPr/>
          <p:nvPr/>
        </p:nvSpPr>
        <p:spPr>
          <a:xfrm>
            <a:off x="10582351" y="2457907"/>
            <a:ext cx="847649" cy="268058"/>
          </a:xfrm>
          <a:prstGeom prst="roundRect">
            <a:avLst>
              <a:gd name="adj" fmla="val 66667"/>
            </a:avLst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9" name="Text 27">
            <a:extLst>
              <a:ext uri="{FF2B5EF4-FFF2-40B4-BE49-F238E27FC236}">
                <a16:creationId xmlns:a16="http://schemas.microsoft.com/office/drawing/2014/main" id="{15F7029B-9487-8BB8-AE4F-B9A0178D6F65}"/>
              </a:ext>
            </a:extLst>
          </p:cNvPr>
          <p:cNvSpPr txBox="1"/>
          <p:nvPr/>
        </p:nvSpPr>
        <p:spPr>
          <a:xfrm>
            <a:off x="10658246" y="2495398"/>
            <a:ext cx="781812" cy="17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C61A21F3-E825-63E4-D975-5A391AB1EE42}"/>
              </a:ext>
            </a:extLst>
          </p:cNvPr>
          <p:cNvSpPr txBox="1"/>
          <p:nvPr/>
        </p:nvSpPr>
        <p:spPr>
          <a:xfrm>
            <a:off x="8492947" y="3076956"/>
            <a:ext cx="2076602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&amp; Future</a:t>
            </a:r>
            <a:endParaRPr lang="en-US" sz="1800" dirty="0"/>
          </a:p>
        </p:txBody>
      </p:sp>
      <p:sp>
        <p:nvSpPr>
          <p:cNvPr id="101" name="Text 29">
            <a:extLst>
              <a:ext uri="{FF2B5EF4-FFF2-40B4-BE49-F238E27FC236}">
                <a16:creationId xmlns:a16="http://schemas.microsoft.com/office/drawing/2014/main" id="{AC7647DD-3650-4F2B-FBAD-A7601BF44B85}"/>
              </a:ext>
            </a:extLst>
          </p:cNvPr>
          <p:cNvSpPr txBox="1"/>
          <p:nvPr/>
        </p:nvSpPr>
        <p:spPr>
          <a:xfrm>
            <a:off x="8492947" y="3562502"/>
            <a:ext cx="3010205" cy="995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External: ~90% AUC / 79.7% Recall.Next: Monitor drift, recalibrate, &amp; add external 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1193</Words>
  <Application>Microsoft Office PowerPoint</Application>
  <PresentationFormat>מסך רחב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Arial</vt:lpstr>
      <vt:lpstr>Courier New</vt:lpstr>
      <vt:lpstr>Inter</vt:lpstr>
      <vt:lpstr>Space Grotesk</vt:lpstr>
      <vt:lpstr>ui-monospace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נועה אגסי</cp:lastModifiedBy>
  <cp:revision>11</cp:revision>
  <dcterms:created xsi:type="dcterms:W3CDTF">2026-01-17T16:47:31Z</dcterms:created>
  <dcterms:modified xsi:type="dcterms:W3CDTF">2026-01-17T17:20:46Z</dcterms:modified>
</cp:coreProperties>
</file>